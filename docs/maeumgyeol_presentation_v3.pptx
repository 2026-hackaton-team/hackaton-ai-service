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9043b339-1f83-0ebc-d79e-78b8cd249b33}">
          <p14:sldIdLst>
            <p14:sldId id="256"/>
          </p14:sldIdLst>
        </p14:section>
        <p14:section name="ⓔ 팀원별 역할 분담" id="{1e14d4c8-cca3-58aa-62fa-90718273d244}">
          <p14:sldIdLst>
            <p14:sldId id="257"/>
          </p14:sldIdLst>
        </p14:section>
        <p14:section name="ⓐ 문제 정의" id="{3f37c514-68db-9041-26c4-c7ecdc69073d}">
          <p14:sldIdLst>
            <p14:sldId id="258"/>
          </p14:sldIdLst>
        </p14:section>
        <p14:section name="ⓑ 해결 방안 및 주요 기능" id="{7489188b-97d4-bb54-7424-d308e9c7b4c0}">
          <p14:sldIdLst>
            <p14:sldId id="259"/>
            <p14:sldId id="260"/>
          </p14:sldIdLst>
        </p14:section>
        <p14:section name="ⓒ 활용 AI 기술 및 직접 개발 범위" id="{7f12da7b-0909-6544-d0ca-26f9df3946c5}">
          <p14:sldIdLst>
            <p14:sldId id="261"/>
            <p14:sldId id="262"/>
          </p14:sldIdLst>
        </p14:section>
        <p14:section name="ⓓ 개발 환경 및 기술 스택" id="{4467b3d5-f3d6-7a8f-0db2-e670fefe62e3}">
          <p14:sldIdLst>
            <p14:sldId id="263"/>
          </p14:sldIdLst>
        </p14:section>
        <p14:section name="ⓕ 외부 자원 활용 내역" id="{2d4e9c71-44bd-af2f-f35f-861264362d7e}">
          <p14:sldIdLst>
            <p14:sldId id="264"/>
          </p14:sldIdLst>
        </p14:section>
        <p14:section name="ⓖ 기대 효과 및 확장 가능성" id="{914320f3-71d4-92a4-00f3-07cb321b6425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구성을 먼저 소개합니다. 역할은 팀에서 공유한 분담 기준이며, 발표 전 각자 실제 기여 내용을 최종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화면은 합성 데이터 시연 영상에서 캡처했습니다. 고정 시연 20개(법률·직무 10 + 감정·관계 10)로 동작을 확인했으며, 별도의 80개 시나리오 카탈로그는 전체 실모델 검증 완료를 뜻하지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테스트 수치는 병합 전 통합 CI 기준(Python 161 PASS, React 테스트·빌드 PASS)입니다. 발표 직전 최신 CI 결과로 갱신하세요. Ncloud는 백엔드 health 응답 확인 기준이며 전체 서비스 배포·브라우저 E2E와는 구분합니다.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가이드의 4열 양식을 그대로 사용했습니다. 미기재 후 사용이 확인되면 실격이므로 발표 전 팀 전체가 최종 확인합니다. 인간관계 연구자료·물가 자료 등 RAG 참고 자료는 출처별 이용 조건을 다시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Before/After는 실제 시연 화면의 응답을 요약한 것으로, 성능 실험 결과가 아닙니다. 결정 시간 단축률·법 위반 예방률 같은 정량 성과는 실사용 실험 전이므로 주장하지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2박 3일 동안 핵심 판단 흐름(추천·확인 질문·보류)과 2촌 공유 추천까지는 구현했지만, 실서비스에 필요한 보안·실사용자 검증·법률 검토는 시간상 다음 단계로 남겼습니다. 각 한계를 오른쪽의 다음 단계로 해결할 계획입니다.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마음결 · 밑져야 경험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33302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마음결 — 기록에 근거하고, 예산을 지키고, 위험할 땐 멈춥니다. 경조사 AI 추천·직무 관련성 검토 통합 발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ⓔ 팀원별 역할 분담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다섯 명이 각자의 강점으로 하나의 서비스를 완성했습니다</a:t>
            </a:r>
            <a:endParaRPr lang="en-US" sz="3000" dirty="0"/>
          </a:p>
        </p:txBody>
      </p:sp>
      <p:sp>
        <p:nvSpPr>
          <p:cNvPr id="5" name="team-고준석"/>
          <p:cNvSpPr/>
          <p:nvPr/>
        </p:nvSpPr>
        <p:spPr>
          <a:xfrm>
            <a:off x="548640" y="1691640"/>
            <a:ext cx="2103120" cy="4343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965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21717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고준석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355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팀장 · AI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84048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서비스 기획·통합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AI 추천·RAG 연계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가상 데이터 테스트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최종 제출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" y="4983480"/>
            <a:ext cx="182880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95528" y="5056632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믿을 수 있는 AI 추천과 판단 기준 설계</a:t>
            </a:r>
            <a:endParaRPr lang="en-US" sz="1200" dirty="0"/>
          </a:p>
        </p:txBody>
      </p:sp>
      <p:sp>
        <p:nvSpPr>
          <p:cNvPr id="13" name="team-박주선"/>
          <p:cNvSpPr/>
          <p:nvPr/>
        </p:nvSpPr>
        <p:spPr>
          <a:xfrm>
            <a:off x="2834640" y="1691640"/>
            <a:ext cx="2103120" cy="4343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4" name="Shape 11"/>
          <p:cNvSpPr/>
          <p:nvPr/>
        </p:nvSpPr>
        <p:spPr>
          <a:xfrm>
            <a:off x="3474720" y="196596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217170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83464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박주선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2834640" y="3355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UI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3035808" y="384048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사용자 인터페이스 설계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화면 흐름 구성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사용성 개선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2971800" y="4983480"/>
            <a:ext cx="182880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081528" y="5056632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처음 써도 헤매지 않는 화면 흐름</a:t>
            </a:r>
            <a:endParaRPr lang="en-US" sz="1200" dirty="0"/>
          </a:p>
        </p:txBody>
      </p:sp>
      <p:sp>
        <p:nvSpPr>
          <p:cNvPr id="21" name="team-이열형"/>
          <p:cNvSpPr/>
          <p:nvPr/>
        </p:nvSpPr>
        <p:spPr>
          <a:xfrm>
            <a:off x="5120640" y="1691640"/>
            <a:ext cx="2103120" cy="4343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2" name="Shape 18"/>
          <p:cNvSpPr/>
          <p:nvPr/>
        </p:nvSpPr>
        <p:spPr>
          <a:xfrm>
            <a:off x="5760720" y="196596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460" y="217170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12064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이열형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5120640" y="3355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백엔드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5321808" y="384048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서버·API 개발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서비스 로직 구현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데이터 연동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5257800" y="4983480"/>
            <a:ext cx="182880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5367528" y="5056632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AI·인맥·경조사 기능을 하나의 서버로 연결</a:t>
            </a:r>
            <a:endParaRPr lang="en-US" sz="1200" dirty="0"/>
          </a:p>
        </p:txBody>
      </p:sp>
      <p:sp>
        <p:nvSpPr>
          <p:cNvPr id="29" name="team-채민성"/>
          <p:cNvSpPr/>
          <p:nvPr/>
        </p:nvSpPr>
        <p:spPr>
          <a:xfrm>
            <a:off x="7406640" y="1691640"/>
            <a:ext cx="2103120" cy="4343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30" name="Shape 25"/>
          <p:cNvSpPr/>
          <p:nvPr/>
        </p:nvSpPr>
        <p:spPr>
          <a:xfrm>
            <a:off x="8046720" y="196596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460" y="2171700"/>
            <a:ext cx="411480" cy="41148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40664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채민성</a:t>
            </a:r>
            <a:endParaRPr lang="en-US" sz="2000" dirty="0"/>
          </a:p>
        </p:txBody>
      </p:sp>
      <p:sp>
        <p:nvSpPr>
          <p:cNvPr id="33" name="Text 27"/>
          <p:cNvSpPr txBox="1"/>
          <p:nvPr/>
        </p:nvSpPr>
        <p:spPr>
          <a:xfrm>
            <a:off x="7406640" y="3355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프런트엔드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7607808" y="384048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웹 화면 개발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API 연결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상담·일정 화면 구현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7543800" y="4983480"/>
            <a:ext cx="182880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7653528" y="5056632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AI 상담 결과를 보여 주는 웹 화면</a:t>
            </a:r>
            <a:endParaRPr lang="en-US" sz="1200" dirty="0"/>
          </a:p>
        </p:txBody>
      </p:sp>
      <p:sp>
        <p:nvSpPr>
          <p:cNvPr id="37" name="team-박영세"/>
          <p:cNvSpPr/>
          <p:nvPr/>
        </p:nvSpPr>
        <p:spPr>
          <a:xfrm>
            <a:off x="9692640" y="1691640"/>
            <a:ext cx="2103120" cy="4343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38" name="Shape 32"/>
          <p:cNvSpPr/>
          <p:nvPr/>
        </p:nvSpPr>
        <p:spPr>
          <a:xfrm>
            <a:off x="10332720" y="196596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8460" y="2171700"/>
            <a:ext cx="411480" cy="41148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969264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박영세</a:t>
            </a:r>
            <a:endParaRPr lang="en-US" sz="2000" dirty="0"/>
          </a:p>
        </p:txBody>
      </p:sp>
      <p:sp>
        <p:nvSpPr>
          <p:cNvPr id="41" name="Text 34"/>
          <p:cNvSpPr txBox="1"/>
          <p:nvPr/>
        </p:nvSpPr>
        <p:spPr>
          <a:xfrm>
            <a:off x="9692640" y="3355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자료 조사 · 발표</a:t>
            </a:r>
            <a:endParaRPr lang="en-US" sz="1300" dirty="0"/>
          </a:p>
        </p:txBody>
      </p:sp>
      <p:sp>
        <p:nvSpPr>
          <p:cNvPr id="42" name="Text 35"/>
          <p:cNvSpPr txBox="1"/>
          <p:nvPr/>
        </p:nvSpPr>
        <p:spPr>
          <a:xfrm>
            <a:off x="9893808" y="384048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자료 조사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PPT·발표 자료 제작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시연 흐름 구성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9829800" y="4983480"/>
            <a:ext cx="182880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</p:spPr>
      </p:sp>
      <p:sp>
        <p:nvSpPr>
          <p:cNvPr id="44" name="Text 37"/>
          <p:cNvSpPr txBox="1"/>
          <p:nvPr/>
        </p:nvSpPr>
        <p:spPr>
          <a:xfrm>
            <a:off x="9939528" y="5056632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근거 자료와 전달력 있는 발표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ⓐ 문제 정의 및 목표 사용자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경조사비는 정답이 없는데, 틀리면 부담이 큽니다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114800" cy="1097280"/>
          </a:xfrm>
          <a:prstGeom prst="roundRect">
            <a:avLst>
              <a:gd name="adj" fmla="val 20833"/>
            </a:avLst>
          </a:prstGeom>
          <a:solidFill>
            <a:srgbClr val="F6F1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“예산이 3만 원밖에 없는데…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이 정도면 괜찮을까?”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3063240"/>
            <a:ext cx="4114800" cy="1097280"/>
          </a:xfrm>
          <a:prstGeom prst="roundRect">
            <a:avLst>
              <a:gd name="adj" fmla="val 20833"/>
            </a:avLst>
          </a:prstGeom>
          <a:solidFill>
            <a:srgbClr val="F6F1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32004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“지난번에 10만 원을 받았는데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나도 똑같이 돌려줘야 하나?”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4114800" cy="1097280"/>
          </a:xfrm>
          <a:prstGeom prst="roundRect">
            <a:avLst>
              <a:gd name="adj" fmla="val 20833"/>
            </a:avLst>
          </a:prstGeom>
          <a:solidFill>
            <a:srgbClr val="FBE9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5720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“내가 계약 담당자인데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거래처 부친상에 보내도 될까?”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78308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7850" y="1954530"/>
            <a:ext cx="342900" cy="3429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400800" y="17373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금액을 정하기 어렵다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21488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관계, 주고받은 금액, 참석·식사 여부, 내 예산까지 한꺼번에 따져야 합니다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0" y="315468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3326130"/>
            <a:ext cx="342900" cy="3429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400800" y="31089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법·직무상 위험이 있다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0" y="35204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공직자·교사·계약 심사 담당자라면 “얼마를 낼까”보다 “내도 되는가”를 먼저 확인해야 합니다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486400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850" y="4697730"/>
            <a:ext cx="342900" cy="3429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00800" y="44805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관계의 사정이 복잡하다</a:t>
            </a:r>
            <a:endParaRPr lang="en-US" sz="1900" dirty="0"/>
          </a:p>
        </p:txBody>
      </p:sp>
      <p:sp>
        <p:nvSpPr>
          <p:cNvPr id="22" name="Text 17"/>
          <p:cNvSpPr txBox="1"/>
          <p:nvPr/>
        </p:nvSpPr>
        <p:spPr>
          <a:xfrm>
            <a:off x="6400800" y="48920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“늘 내가 더 냈다”, “오랫동안 연락이 없었다” 같은 사정은 평균 금액만으로 판단할 수 없습니다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58338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목표 사용자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1920240" y="5833872"/>
            <a:ext cx="2743200" cy="38404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1920240" y="58338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첫 축의금이 고민인 사회초년생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846320" y="5833872"/>
            <a:ext cx="3108960" cy="38404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846320" y="58338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직무상 이해관계가 있는 공직자·담당자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8138160" y="5833872"/>
            <a:ext cx="3383280" cy="38404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138160" y="58338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오랜 경조사 거래와 인맥을 관리하는 직장인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ⓑ 해결 방안 및 주요 기능 (1/2)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마음결은 추천하고, 되묻고, 멈춥니다</a:t>
            </a:r>
            <a:endParaRPr lang="en-US" sz="3000" dirty="0"/>
          </a:p>
        </p:txBody>
      </p:sp>
      <p:sp>
        <p:nvSpPr>
          <p:cNvPr id="5" name="step-0"/>
          <p:cNvSpPr/>
          <p:nvPr/>
        </p:nvSpPr>
        <p:spPr>
          <a:xfrm>
            <a:off x="548640" y="169164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1074420" y="18745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0116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5328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자연어 질문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2240280"/>
            <a:ext cx="164592" cy="164592"/>
          </a:xfrm>
          <a:prstGeom prst="rect">
            <a:avLst/>
          </a:prstGeom>
        </p:spPr>
      </p:pic>
      <p:sp>
        <p:nvSpPr>
          <p:cNvPr id="10" name="step-1"/>
          <p:cNvSpPr/>
          <p:nvPr/>
        </p:nvSpPr>
        <p:spPr>
          <a:xfrm>
            <a:off x="2441448" y="169164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Shape 7"/>
          <p:cNvSpPr/>
          <p:nvPr/>
        </p:nvSpPr>
        <p:spPr>
          <a:xfrm>
            <a:off x="2967228" y="18745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4388" y="20116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441448" y="25328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의도·사실 파악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5656" y="2240280"/>
            <a:ext cx="164592" cy="164592"/>
          </a:xfrm>
          <a:prstGeom prst="rect">
            <a:avLst/>
          </a:prstGeom>
        </p:spPr>
      </p:pic>
      <p:sp>
        <p:nvSpPr>
          <p:cNvPr id="15" name="step-2"/>
          <p:cNvSpPr/>
          <p:nvPr/>
        </p:nvSpPr>
        <p:spPr>
          <a:xfrm>
            <a:off x="4334256" y="169164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6" name="Shape 10"/>
          <p:cNvSpPr/>
          <p:nvPr/>
        </p:nvSpPr>
        <p:spPr>
          <a:xfrm>
            <a:off x="4860036" y="18745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196" y="201168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334256" y="25328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인맥·장부 조회</a:t>
            </a:r>
            <a:endParaRPr lang="en-US" sz="14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8464" y="2240280"/>
            <a:ext cx="164592" cy="164592"/>
          </a:xfrm>
          <a:prstGeom prst="rect">
            <a:avLst/>
          </a:prstGeom>
        </p:spPr>
      </p:pic>
      <p:sp>
        <p:nvSpPr>
          <p:cNvPr id="20" name="step-3"/>
          <p:cNvSpPr/>
          <p:nvPr/>
        </p:nvSpPr>
        <p:spPr>
          <a:xfrm>
            <a:off x="6227064" y="169164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21" name="Shape 13"/>
          <p:cNvSpPr/>
          <p:nvPr/>
        </p:nvSpPr>
        <p:spPr>
          <a:xfrm>
            <a:off x="6752844" y="18745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0004" y="2011680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227064" y="25328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공개 근거 검색</a:t>
            </a:r>
            <a:endParaRPr lang="en-US" sz="14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1272" y="2240280"/>
            <a:ext cx="164592" cy="164592"/>
          </a:xfrm>
          <a:prstGeom prst="rect">
            <a:avLst/>
          </a:prstGeom>
        </p:spPr>
      </p:pic>
      <p:sp>
        <p:nvSpPr>
          <p:cNvPr id="25" name="step-4"/>
          <p:cNvSpPr/>
          <p:nvPr/>
        </p:nvSpPr>
        <p:spPr>
          <a:xfrm>
            <a:off x="8119872" y="169164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26" name="Shape 16"/>
          <p:cNvSpPr/>
          <p:nvPr/>
        </p:nvSpPr>
        <p:spPr>
          <a:xfrm>
            <a:off x="8645652" y="18745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2812" y="2011680"/>
            <a:ext cx="274320" cy="27432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8119872" y="25328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직무·법률 검토</a:t>
            </a:r>
            <a:endParaRPr lang="en-US" sz="14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4080" y="2240280"/>
            <a:ext cx="164592" cy="164592"/>
          </a:xfrm>
          <a:prstGeom prst="rect">
            <a:avLst/>
          </a:prstGeom>
        </p:spPr>
      </p:pic>
      <p:sp>
        <p:nvSpPr>
          <p:cNvPr id="30" name="step-5"/>
          <p:cNvSpPr/>
          <p:nvPr/>
        </p:nvSpPr>
        <p:spPr>
          <a:xfrm>
            <a:off x="10012680" y="169164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31" name="Shape 19"/>
          <p:cNvSpPr/>
          <p:nvPr/>
        </p:nvSpPr>
        <p:spPr>
          <a:xfrm>
            <a:off x="10538460" y="18745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75620" y="2011680"/>
            <a:ext cx="274320" cy="274320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10012680" y="25328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추천 엔진</a:t>
            </a:r>
            <a:endParaRPr lang="en-US" sz="1400" dirty="0"/>
          </a:p>
        </p:txBody>
      </p:sp>
      <p:sp>
        <p:nvSpPr>
          <p:cNvPr id="34" name="out-0"/>
          <p:cNvSpPr/>
          <p:nvPr/>
        </p:nvSpPr>
        <p:spPr>
          <a:xfrm>
            <a:off x="548640" y="333756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35" name="Shape 22"/>
          <p:cNvSpPr/>
          <p:nvPr/>
        </p:nvSpPr>
        <p:spPr>
          <a:xfrm>
            <a:off x="777240" y="35661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3703320"/>
            <a:ext cx="274320" cy="274320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1463040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① 참고 금액 제시</a:t>
            </a:r>
            <a:endParaRPr lang="en-US" sz="1900" dirty="0"/>
          </a:p>
        </p:txBody>
      </p:sp>
      <p:sp>
        <p:nvSpPr>
          <p:cNvPr id="38" name="Text 24"/>
          <p:cNvSpPr txBox="1"/>
          <p:nvPr/>
        </p:nvSpPr>
        <p:spPr>
          <a:xfrm>
            <a:off x="777240" y="42519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조건이 충족되면 예산 상한 안에서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개인화된 금액과 근거를 함께 안내</a:t>
            </a:r>
            <a:endParaRPr lang="en-US" sz="1300" dirty="0"/>
          </a:p>
        </p:txBody>
      </p:sp>
      <p:sp>
        <p:nvSpPr>
          <p:cNvPr id="39" name="out-1"/>
          <p:cNvSpPr/>
          <p:nvPr/>
        </p:nvSpPr>
        <p:spPr>
          <a:xfrm>
            <a:off x="4297680" y="333756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40" name="Shape 26"/>
          <p:cNvSpPr/>
          <p:nvPr/>
        </p:nvSpPr>
        <p:spPr>
          <a:xfrm>
            <a:off x="4526280" y="35661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3440" y="3703320"/>
            <a:ext cx="274320" cy="274320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5212080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② 확인 질문</a:t>
            </a:r>
            <a:endParaRPr lang="en-US" sz="1900" dirty="0"/>
          </a:p>
        </p:txBody>
      </p:sp>
      <p:sp>
        <p:nvSpPr>
          <p:cNvPr id="43" name="Text 28"/>
          <p:cNvSpPr txBox="1"/>
          <p:nvPr/>
        </p:nvSpPr>
        <p:spPr>
          <a:xfrm>
            <a:off x="4526280" y="42519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지인·참석·예산 등 정보가 모자라면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추측하지 않고 차례로 되물음</a:t>
            </a:r>
            <a:endParaRPr lang="en-US" sz="1300" dirty="0"/>
          </a:p>
        </p:txBody>
      </p:sp>
      <p:sp>
        <p:nvSpPr>
          <p:cNvPr id="44" name="out-2"/>
          <p:cNvSpPr/>
          <p:nvPr/>
        </p:nvSpPr>
        <p:spPr>
          <a:xfrm>
            <a:off x="8046720" y="333756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45" name="Shape 30"/>
          <p:cNvSpPr/>
          <p:nvPr/>
        </p:nvSpPr>
        <p:spPr>
          <a:xfrm>
            <a:off x="8275320" y="35661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12480" y="3703320"/>
            <a:ext cx="274320" cy="274320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8961120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③ 금전 추천 보류</a:t>
            </a:r>
            <a:endParaRPr lang="en-US" sz="1900" dirty="0"/>
          </a:p>
        </p:txBody>
      </p:sp>
      <p:sp>
        <p:nvSpPr>
          <p:cNvPr id="48" name="Text 32"/>
          <p:cNvSpPr txBox="1"/>
          <p:nvPr/>
        </p:nvSpPr>
        <p:spPr>
          <a:xfrm>
            <a:off x="8275320" y="42519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계약·심사 등 직무 위험이 의심되면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금액 대신 확인할 사항을 안내</a:t>
            </a:r>
            <a:endParaRPr lang="en-US" sz="1300" dirty="0"/>
          </a:p>
        </p:txBody>
      </p:sp>
      <p:sp>
        <p:nvSpPr>
          <p:cNvPr id="49" name="Text 33"/>
          <p:cNvSpPr txBox="1"/>
          <p:nvPr/>
        </p:nvSpPr>
        <p:spPr>
          <a:xfrm>
            <a:off x="548640" y="5257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개인화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사회 평균 대신 내 지급·수령 이력, 친밀도, 예산을 반영</a:t>
            </a:r>
            <a:endParaRPr lang="en-US" sz="1300" dirty="0"/>
          </a:p>
        </p:txBody>
      </p:sp>
      <p:sp>
        <p:nvSpPr>
          <p:cNvPr id="50" name="Text 34"/>
          <p:cNvSpPr txBox="1"/>
          <p:nvPr/>
        </p:nvSpPr>
        <p:spPr>
          <a:xfrm>
            <a:off x="4297680" y="5257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근거 공개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개인 기록과 공개 자료를 구분하고, 불확실한 사실은 단정하지 않음</a:t>
            </a:r>
            <a:endParaRPr lang="en-US" sz="1300" dirty="0"/>
          </a:p>
        </p:txBody>
      </p:sp>
      <p:sp>
        <p:nvSpPr>
          <p:cNvPr id="51" name="Text 35"/>
          <p:cNvSpPr txBox="1"/>
          <p:nvPr/>
        </p:nvSpPr>
        <p:spPr>
          <a:xfrm>
            <a:off x="8046720" y="5257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위험 우선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“5만 원 이하면 괜찮다”고 단정하지 않고 직무 관련성부터 확인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ⓑ 해결 방안 및 주요 기능 (2/2)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실제로 동작하는 세 가지 핵심 기능</a:t>
            </a:r>
            <a:endParaRPr lang="en-US" sz="3000" dirty="0"/>
          </a:p>
        </p:txBody>
      </p:sp>
      <p:sp>
        <p:nvSpPr>
          <p:cNvPr id="5" name="feat-0"/>
          <p:cNvSpPr/>
          <p:nvPr/>
        </p:nvSpPr>
        <p:spPr>
          <a:xfrm>
            <a:off x="548640" y="1645920"/>
            <a:ext cx="3566160" cy="44348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783080"/>
            <a:ext cx="329184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E4DDD5"/>
            </a:solidFill>
            <a:prstDash val="solid"/>
          </a:ln>
        </p:spPr>
      </p:sp>
      <p:pic>
        <p:nvPicPr>
          <p:cNvPr id="7" name="Image 0" descr="① 마음결 AI 자유 상담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87533"/>
            <a:ext cx="3291840" cy="18484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9776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① 마음결 AI 자유 상담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3891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지인, 과거 거래, 친밀도, 식사 여부를 함께 보고 예산 안에서 금액과 이유를 제시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5257800"/>
            <a:ext cx="3291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5276088"/>
            <a:ext cx="3017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“친구 결혼식, 식사함, 예산 30만 원” → 참고액 7만 원</a:t>
            </a:r>
            <a:endParaRPr lang="en-US" sz="1200" dirty="0"/>
          </a:p>
        </p:txBody>
      </p:sp>
      <p:sp>
        <p:nvSpPr>
          <p:cNvPr id="12" name="feat-1"/>
          <p:cNvSpPr/>
          <p:nvPr/>
        </p:nvSpPr>
        <p:spPr>
          <a:xfrm>
            <a:off x="4297680" y="1645920"/>
            <a:ext cx="3566160" cy="44348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4434840" y="1783080"/>
            <a:ext cx="329184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E4DDD5"/>
            </a:solidFill>
            <a:prstDash val="solid"/>
          </a:ln>
        </p:spPr>
      </p:sp>
      <p:pic>
        <p:nvPicPr>
          <p:cNvPr id="14" name="Image 1" descr="② 관계 분석 · 법률 위험 검토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028641"/>
            <a:ext cx="3291840" cy="156627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480560" y="39776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② 관계 분석 · 법률 위험 검토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480560" y="43891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주고받은 내역과 최근 변화를 비교하고, 계약·심사 관계가 의심되면 금액 대신 확인할 사항을 안내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434840" y="5257800"/>
            <a:ext cx="3291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572000" y="5276088"/>
            <a:ext cx="3017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“내가 심사하는 거래처의 부친상” → 금전 추천 보류</a:t>
            </a:r>
            <a:endParaRPr lang="en-US" sz="1200" dirty="0"/>
          </a:p>
        </p:txBody>
      </p:sp>
      <p:sp>
        <p:nvSpPr>
          <p:cNvPr id="19" name="feat-2"/>
          <p:cNvSpPr/>
          <p:nvPr/>
        </p:nvSpPr>
        <p:spPr>
          <a:xfrm>
            <a:off x="8046720" y="1645920"/>
            <a:ext cx="3566160" cy="44348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20" name="Shape 16"/>
          <p:cNvSpPr/>
          <p:nvPr/>
        </p:nvSpPr>
        <p:spPr>
          <a:xfrm>
            <a:off x="8183880" y="1783080"/>
            <a:ext cx="329184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E4DDD5"/>
            </a:solidFill>
            <a:prstDash val="solid"/>
          </a:ln>
        </p:spPr>
      </p:sp>
      <p:pic>
        <p:nvPicPr>
          <p:cNvPr id="21" name="Image 2" descr="③ 경조사 공유 · 인맥 기반 추천 화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400" y="1783080"/>
            <a:ext cx="2332800" cy="20574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229600" y="39776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③ 경조사 공유 · 인맥 기반 추천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8229600" y="43891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공유자가 정한 공개 범위와 참석 허용 조건에 맞춰 친구와 친구의 친구에게 소식 전달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183880" y="5257800"/>
            <a:ext cx="3291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321040" y="5276088"/>
            <a:ext cx="3017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공통 친구를 거쳐, 직접 친구가 아닌 사용자에게도 소식 추천(2촌)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ⓒ 활용 AI 기술 및 직접 개발 범위 (1/2)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판단은 직접 만든 엔진이, 표현은 LLM이 맡습니다</a:t>
            </a:r>
            <a:endParaRPr lang="en-US" sz="3000" dirty="0"/>
          </a:p>
        </p:txBody>
      </p:sp>
      <p:sp>
        <p:nvSpPr>
          <p:cNvPr id="5" name="pipe-0"/>
          <p:cNvSpPr/>
          <p:nvPr/>
        </p:nvSpPr>
        <p:spPr>
          <a:xfrm>
            <a:off x="548640" y="1645920"/>
            <a:ext cx="786384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65376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86537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LLM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7373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질문 이해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06654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ai.py · query_planner.py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719072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LLM으로 의도·조건을 해석하고 대화 맥락을 유지, 불분명한 지인·조건은 다시 질문</a:t>
            </a:r>
            <a:endParaRPr lang="en-US" sz="1300" dirty="0"/>
          </a:p>
        </p:txBody>
      </p:sp>
      <p:sp>
        <p:nvSpPr>
          <p:cNvPr id="11" name="pipe-1"/>
          <p:cNvSpPr/>
          <p:nvPr/>
        </p:nvSpPr>
        <p:spPr>
          <a:xfrm>
            <a:off x="548640" y="2523744"/>
            <a:ext cx="786384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743200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274320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직접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6151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근거 검색 (RAG)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9443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knowledge.py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2596896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한글 문자 2·3-gram TF-IDF + 코사인 유사도 + 행사·관계 가중치 (벡터 DB·LangChain 미사용)</a:t>
            </a:r>
            <a:endParaRPr lang="en-US" sz="1300" dirty="0"/>
          </a:p>
        </p:txBody>
      </p:sp>
      <p:sp>
        <p:nvSpPr>
          <p:cNvPr id="17" name="pipe-2"/>
          <p:cNvSpPr/>
          <p:nvPr/>
        </p:nvSpPr>
        <p:spPr>
          <a:xfrm>
            <a:off x="548640" y="3401568"/>
            <a:ext cx="786384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621024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362102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직접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4930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위험 판단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382219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legal_policy.py · special_cases.py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474720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공직자·계약·직무 관련 조건을 분석해 추천 / 추가 확인 / 보류를 결정</a:t>
            </a:r>
            <a:endParaRPr lang="en-US" sz="1300" dirty="0"/>
          </a:p>
        </p:txBody>
      </p:sp>
      <p:sp>
        <p:nvSpPr>
          <p:cNvPr id="23" name="pipe-3"/>
          <p:cNvSpPr/>
          <p:nvPr/>
        </p:nvSpPr>
        <p:spPr>
          <a:xfrm>
            <a:off x="548640" y="4279392"/>
            <a:ext cx="786384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4498848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449884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직접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437083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금액 계산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70001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recommender.py · relationship_analysis.py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383280" y="4352544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지급·수령 거래와 관계를 반영하고 물가를 참고, 1만 원 단위 후보를 예산 상한으로 검증</a:t>
            </a:r>
            <a:endParaRPr lang="en-US" sz="1300" dirty="0"/>
          </a:p>
        </p:txBody>
      </p:sp>
      <p:sp>
        <p:nvSpPr>
          <p:cNvPr id="29" name="pipe-4"/>
          <p:cNvSpPr/>
          <p:nvPr/>
        </p:nvSpPr>
        <p:spPr>
          <a:xfrm>
            <a:off x="548640" y="5157216"/>
            <a:ext cx="7863840" cy="768096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5376672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" y="537667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LLM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508760" y="524865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최종 설명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508760" y="55778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ai.py · llm.py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3383280" y="5230368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정책 결과와 금액은 그대로 두고 상담 문장으로 풀어 설명, 응답 속 숫자 재검증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641080" y="1645920"/>
            <a:ext cx="2999232" cy="4279392"/>
          </a:xfrm>
          <a:prstGeom prst="roundRect">
            <a:avLst>
              <a:gd name="adj" fmla="val 3659"/>
            </a:avLst>
          </a:prstGeom>
          <a:solidFill>
            <a:schemeClr val="tx1"/>
          </a:solidFill>
          <a:ln/>
        </p:spPr>
      </p:sp>
      <p:sp>
        <p:nvSpPr>
          <p:cNvPr id="36" name="Shape 34"/>
          <p:cNvSpPr/>
          <p:nvPr/>
        </p:nvSpPr>
        <p:spPr>
          <a:xfrm>
            <a:off x="8915400" y="1874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3990" y="2023110"/>
            <a:ext cx="297180" cy="297180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9646920" y="19385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안전 원칙</a:t>
            </a:r>
            <a:endParaRPr lang="en-US" sz="1900" dirty="0"/>
          </a:p>
        </p:txBody>
      </p:sp>
      <p:sp>
        <p:nvSpPr>
          <p:cNvPr id="39" name="Text 36"/>
          <p:cNvSpPr txBox="1"/>
          <p:nvPr/>
        </p:nvSpPr>
        <p:spPr>
          <a:xfrm>
            <a:off x="8915400" y="2697480"/>
            <a:ext cx="24963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LLM이 정책 판단을 뒤집지 못하도록 결과를 검증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예산을 넘는 금액은 추천 후보에서 제외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모르는 법적 사실은 확정하지 않고 보류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모델 장애 시에도 법적 결론을 지어내지 않고 정책 기반으로 설명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8915400" y="5257800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※ 법률 자문이나 적법성 보증이 아닌 참고용 안내입니다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6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ⓒ 활용 AI 기술 및 직접 개발 범위 (2/2)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대체 모델과 시간 제한으로 LLM 호출을 안정화했습니다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Codyssey API · OpenAI 호환 /chat/completions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의도 분류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783080" y="2057400"/>
            <a:ext cx="2103120" cy="777240"/>
          </a:xfrm>
          <a:prstGeom prst="roundRect">
            <a:avLst>
              <a:gd name="adj" fmla="val 11765"/>
            </a:avLst>
          </a:prstGeom>
          <a:solidFill>
            <a:schemeClr val="tx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874520" y="20574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주 모델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gpt-5.4-mini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21671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실패 시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6512" y="2423160"/>
            <a:ext cx="201168" cy="2011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26280" y="2057400"/>
            <a:ext cx="210312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17720" y="20574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보조 모델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gemini-3.1-flash-lite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0632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답변 생성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783080" y="3063240"/>
            <a:ext cx="2103120" cy="777240"/>
          </a:xfrm>
          <a:prstGeom prst="roundRect">
            <a:avLst>
              <a:gd name="adj" fmla="val 11765"/>
            </a:avLst>
          </a:prstGeom>
          <a:solidFill>
            <a:schemeClr val="tx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74520" y="3063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주 모델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claude-opus-4-8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931920" y="3172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실패 시</a:t>
            </a:r>
            <a:endParaRPr lang="en-US" sz="9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3429000"/>
            <a:ext cx="201168" cy="2011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526280" y="3063240"/>
            <a:ext cx="210312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617720" y="3063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보조 모델</a:t>
            </a:r>
            <a:endParaRPr lang="en-US" sz="10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gpt-5.4-mini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4206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30초</a:t>
            </a:r>
            <a:endParaRPr lang="en-US" sz="4000" dirty="0"/>
          </a:p>
        </p:txBody>
      </p:sp>
      <p:sp>
        <p:nvSpPr>
          <p:cNvPr id="21" name="Text 17"/>
          <p:cNvSpPr txBox="1"/>
          <p:nvPr/>
        </p:nvSpPr>
        <p:spPr>
          <a:xfrm>
            <a:off x="2286000" y="420624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요청 1회의 전체 시간 예산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주 모델 최대 20초 + 보조 모델 최대 10초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516636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OpenAI API(gpt-4.1-mini)는 사용자가 명시적으로 동의한 경우에만 관계 분석 설명에 사용</a:t>
            </a:r>
            <a:endParaRPr lang="en-US" sz="1300" dirty="0"/>
          </a:p>
        </p:txBody>
      </p:sp>
      <p:sp>
        <p:nvSpPr>
          <p:cNvPr id="23" name="own"/>
          <p:cNvSpPr/>
          <p:nvPr/>
        </p:nvSpPr>
        <p:spPr>
          <a:xfrm>
            <a:off x="7086600" y="1600200"/>
            <a:ext cx="4553712" cy="2514600"/>
          </a:xfrm>
          <a:prstGeom prst="roundRect">
            <a:avLst>
              <a:gd name="adj" fmla="val 4364"/>
            </a:avLst>
          </a:prstGeom>
          <a:solidFill>
            <a:srgbClr val="FBE9EC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60920" y="17556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직접 개발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7360920" y="2212848"/>
            <a:ext cx="4096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개인화 금액 추천 엔진 · 법률·직무 정책 검사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한글 n-gram RAG 검색기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인맥·장부·일정·공유 경조사 처리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대화 상태 관리와 응답 검증, React 화면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합성 시연 데이터·테스트</a:t>
            </a:r>
            <a:endParaRPr lang="en-US" sz="1300" dirty="0"/>
          </a:p>
        </p:txBody>
      </p:sp>
      <p:sp>
        <p:nvSpPr>
          <p:cNvPr id="26" name="ext"/>
          <p:cNvSpPr/>
          <p:nvPr/>
        </p:nvSpPr>
        <p:spPr>
          <a:xfrm>
            <a:off x="7086600" y="4297680"/>
            <a:ext cx="4553712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360920" y="44531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외부 활용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7360920" y="4910328"/>
            <a:ext cx="4096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Claude · GPT · Gemini 모델 추론 API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FastAPI · Pydantic · httpx · React · Vite 등 오픈소스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7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ⓓ 개발 환경 및 기술 스택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가볍고 검증 가능한 스택으로 해커톤 기간 안에 통합했습니다</a:t>
            </a:r>
            <a:endParaRPr lang="en-US" sz="3000" dirty="0"/>
          </a:p>
        </p:txBody>
      </p:sp>
      <p:sp>
        <p:nvSpPr>
          <p:cNvPr id="5" name="stack-0"/>
          <p:cNvSpPr/>
          <p:nvPr/>
        </p:nvSpPr>
        <p:spPr>
          <a:xfrm>
            <a:off x="548640" y="1691640"/>
            <a:ext cx="26517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06883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1965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백엔드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Python 3.12 · FastAPI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Pydantic v2 · Uvicorn · httpx</a:t>
            </a:r>
            <a:endParaRPr lang="en-US" sz="1300" dirty="0"/>
          </a:p>
        </p:txBody>
      </p:sp>
      <p:sp>
        <p:nvSpPr>
          <p:cNvPr id="10" name="stack-1"/>
          <p:cNvSpPr/>
          <p:nvPr/>
        </p:nvSpPr>
        <p:spPr>
          <a:xfrm>
            <a:off x="3383280" y="1691640"/>
            <a:ext cx="26517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611880" y="19202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470" y="206883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43400" y="1965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프런트엔드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61188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React 19 · JavaScript (ESM)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Vite 6 · pnpm 11 · Node 22+</a:t>
            </a:r>
            <a:endParaRPr lang="en-US" sz="1300" dirty="0"/>
          </a:p>
        </p:txBody>
      </p:sp>
      <p:sp>
        <p:nvSpPr>
          <p:cNvPr id="15" name="stack-2"/>
          <p:cNvSpPr/>
          <p:nvPr/>
        </p:nvSpPr>
        <p:spPr>
          <a:xfrm>
            <a:off x="6217920" y="1691640"/>
            <a:ext cx="26517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6446520" y="192024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110" y="206883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78040" y="1965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데이터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44652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SQLite: 계정·대화·인맥·장부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일정·공유 소식 · 통합 시드</a:t>
            </a:r>
            <a:endParaRPr lang="en-US" sz="1300" dirty="0"/>
          </a:p>
        </p:txBody>
      </p:sp>
      <p:sp>
        <p:nvSpPr>
          <p:cNvPr id="20" name="stack-3"/>
          <p:cNvSpPr/>
          <p:nvPr/>
        </p:nvSpPr>
        <p:spPr>
          <a:xfrm>
            <a:off x="9052560" y="1691640"/>
            <a:ext cx="26517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1" name="Shape 16"/>
          <p:cNvSpPr/>
          <p:nvPr/>
        </p:nvSpPr>
        <p:spPr>
          <a:xfrm>
            <a:off x="9281160" y="1920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0" y="2068830"/>
            <a:ext cx="297180" cy="2971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012680" y="1965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928116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Codyssey LLM API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자체 한글 n-gram TF-IDF RAG</a:t>
            </a:r>
            <a:endParaRPr lang="en-US" sz="1300" dirty="0"/>
          </a:p>
        </p:txBody>
      </p:sp>
      <p:sp>
        <p:nvSpPr>
          <p:cNvPr id="25" name="stack-4"/>
          <p:cNvSpPr/>
          <p:nvPr/>
        </p:nvSpPr>
        <p:spPr>
          <a:xfrm>
            <a:off x="548640" y="3977640"/>
            <a:ext cx="26517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6" name="Shape 20"/>
          <p:cNvSpPr/>
          <p:nvPr/>
        </p:nvSpPr>
        <p:spPr>
          <a:xfrm>
            <a:off x="777240" y="420624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4354830"/>
            <a:ext cx="297180" cy="29718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508760" y="4251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테스트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777240" y="4983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pytest · unittest · node:test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Python 161건 통과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React 테스트·빌드 통과</a:t>
            </a:r>
            <a:endParaRPr lang="en-US" sz="1300" dirty="0"/>
          </a:p>
        </p:txBody>
      </p:sp>
      <p:sp>
        <p:nvSpPr>
          <p:cNvPr id="30" name="stack-5"/>
          <p:cNvSpPr/>
          <p:nvPr/>
        </p:nvSpPr>
        <p:spPr>
          <a:xfrm>
            <a:off x="3383280" y="3977640"/>
            <a:ext cx="26517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31" name="Shape 24"/>
          <p:cNvSpPr/>
          <p:nvPr/>
        </p:nvSpPr>
        <p:spPr>
          <a:xfrm>
            <a:off x="3611880" y="420624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0470" y="4354830"/>
            <a:ext cx="297180" cy="29718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343400" y="4251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협업 · CI</a:t>
            </a:r>
            <a:endParaRPr lang="en-US" sz="1800" dirty="0"/>
          </a:p>
        </p:txBody>
      </p:sp>
      <p:sp>
        <p:nvSpPr>
          <p:cNvPr id="34" name="Text 26"/>
          <p:cNvSpPr txBox="1"/>
          <p:nvPr/>
        </p:nvSpPr>
        <p:spPr>
          <a:xfrm>
            <a:off x="3611880" y="4983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GitHub develop 기반 PR 리뷰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GitHub Actions 통합 검사</a:t>
            </a:r>
            <a:endParaRPr lang="en-US" sz="1300" dirty="0"/>
          </a:p>
        </p:txBody>
      </p:sp>
      <p:sp>
        <p:nvSpPr>
          <p:cNvPr id="35" name="stack-6"/>
          <p:cNvSpPr/>
          <p:nvPr/>
        </p:nvSpPr>
        <p:spPr>
          <a:xfrm>
            <a:off x="6217920" y="3977640"/>
            <a:ext cx="26517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36" name="Shape 28"/>
          <p:cNvSpPr/>
          <p:nvPr/>
        </p:nvSpPr>
        <p:spPr>
          <a:xfrm>
            <a:off x="6446520" y="420624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5110" y="4354830"/>
            <a:ext cx="297180" cy="29718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178040" y="4251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실행 · 배포</a:t>
            </a:r>
            <a:endParaRPr lang="en-US" sz="1800" dirty="0"/>
          </a:p>
        </p:txBody>
      </p:sp>
      <p:sp>
        <p:nvSpPr>
          <p:cNvPr id="39" name="Text 30"/>
          <p:cNvSpPr txBox="1"/>
          <p:nvPr/>
        </p:nvSpPr>
        <p:spPr>
          <a:xfrm>
            <a:off x="6446520" y="4983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Windows/macOS 원클릭 실행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Ncloud 서버에 백엔드 API 배포</a:t>
            </a:r>
            <a:endParaRPr lang="en-US" sz="1300" dirty="0"/>
          </a:p>
        </p:txBody>
      </p:sp>
      <p:sp>
        <p:nvSpPr>
          <p:cNvPr id="40" name="stack-7"/>
          <p:cNvSpPr/>
          <p:nvPr/>
        </p:nvSpPr>
        <p:spPr>
          <a:xfrm>
            <a:off x="9052560" y="3977640"/>
            <a:ext cx="26517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1" name="Shape 32"/>
          <p:cNvSpPr/>
          <p:nvPr/>
        </p:nvSpPr>
        <p:spPr>
          <a:xfrm>
            <a:off x="9281160" y="42062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750" y="4354830"/>
            <a:ext cx="297180" cy="29718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0012680" y="4251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팀 소통</a:t>
            </a:r>
            <a:endParaRPr lang="en-US" sz="1800" dirty="0"/>
          </a:p>
        </p:txBody>
      </p:sp>
      <p:sp>
        <p:nvSpPr>
          <p:cNvPr id="44" name="Text 34"/>
          <p:cNvSpPr txBox="1"/>
          <p:nvPr/>
        </p:nvSpPr>
        <p:spPr>
          <a:xfrm>
            <a:off x="9281160" y="4983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Discord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Google Meet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ⓕ 외부 자원 활용 내역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사용한 외부 자원을 빠짐없이 기재했습니다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206240"/>
                <a:gridCol w="3291840"/>
                <a:gridCol w="2267712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명칭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용도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라이선스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46888">
                <a:tc rowSpan="8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오픈소스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React 19 / React DOM 19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프런트엔드 UI 개발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MIT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Vite 6 / React Plugin / pnpm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프런트엔드 개발·빌드·패키지 관리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MIT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FastAPI / Pydantic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백엔드 API·데이터 검증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MIT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Uvicorn / HTTPX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서버 실행·모델 API 통신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BSD-3-Clause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Lucide React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UI 아이콘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ISC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SQLite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계정·인맥·거래·RAG 시드 저장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python-dotenv / pytest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환경변수 관리·자동 테스트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BSD-3-Clause / MIT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Python 3.12 / OpenAI Python SDK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백엔드 실행·OpenAI API 호출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PSF / Apache 2.0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외부 API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Codyssey LLM API (Claude Opus, GPT, Gemini 계열)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자연어 해석·의도 분류·답변 생성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제공 API 이용조건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OpenAI Responses API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선택적 추천 결과 설명 생성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상용 API 이용조건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사전 보유 코드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해당 없음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row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기타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국민권익위원회 법령·질의응답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청탁금지법·직무 관련성 RAG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자료별 이용조건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인크루트·NH농협은행·한국리서치·가연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경조사 금액·인식 조사 근거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출처별 이용조건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국가데이터처·한국소비자원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물가 환산·결혼서비스 가격 근거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자료별 이용조건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국내외 인간관계 연구논문 6건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호혜성·선물·관계 해석 근거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논문별 저작권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성균관유도회총본부 상례 권고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장례 예절·경조사 부담 설명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보도자료 이용조건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ChatGPT · Codex · Claude Code · Gemini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설계·코드 작성·검토 보조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상용 서비스 이용약관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9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ⓖ 기대 효과 및 확장 가능성 (1/2)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답을 강요하지 않고, 선택의 이유를 보여 줍니다</a:t>
            </a:r>
            <a:endParaRPr lang="en-US" sz="3000" dirty="0"/>
          </a:p>
        </p:txBody>
      </p:sp>
      <p:sp>
        <p:nvSpPr>
          <p:cNvPr id="5" name="eff-0"/>
          <p:cNvSpPr/>
          <p:nvPr/>
        </p:nvSpPr>
        <p:spPr>
          <a:xfrm>
            <a:off x="548640" y="1645920"/>
            <a:ext cx="267919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87452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개인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14600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주고받은 금액, 친밀도, 참석 여부를 근거로 고민을 줄이고, 예산은 넘기지 않음</a:t>
            </a:r>
            <a:endParaRPr lang="en-US" sz="1300" dirty="0"/>
          </a:p>
        </p:txBody>
      </p:sp>
      <p:sp>
        <p:nvSpPr>
          <p:cNvPr id="10" name="eff-1"/>
          <p:cNvSpPr/>
          <p:nvPr/>
        </p:nvSpPr>
        <p:spPr>
          <a:xfrm>
            <a:off x="3355848" y="1645920"/>
            <a:ext cx="267919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584448" y="1828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19659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70248" y="187452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관계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584448" y="2514600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금전적 불균형과 최근 변화는 보여 주되, 상대의 진심이나 보답 의무는 단정하지 않음</a:t>
            </a:r>
            <a:endParaRPr lang="en-US" sz="1300" dirty="0"/>
          </a:p>
        </p:txBody>
      </p:sp>
      <p:sp>
        <p:nvSpPr>
          <p:cNvPr id="15" name="eff-2"/>
          <p:cNvSpPr/>
          <p:nvPr/>
        </p:nvSpPr>
        <p:spPr>
          <a:xfrm>
            <a:off x="6163056" y="1645920"/>
            <a:ext cx="267919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6391656" y="18288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9659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77456" y="187452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위험 예방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391656" y="2514600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계약 심사·직무 관련성 단서를 미리 찾아 송금 전에 확인할 사항을 안내</a:t>
            </a:r>
            <a:endParaRPr lang="en-US" sz="1300" dirty="0"/>
          </a:p>
        </p:txBody>
      </p:sp>
      <p:sp>
        <p:nvSpPr>
          <p:cNvPr id="20" name="eff-3"/>
          <p:cNvSpPr/>
          <p:nvPr/>
        </p:nvSpPr>
        <p:spPr>
          <a:xfrm>
            <a:off x="8970264" y="1645920"/>
            <a:ext cx="267919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1" name="Shape 16"/>
          <p:cNvSpPr/>
          <p:nvPr/>
        </p:nvSpPr>
        <p:spPr>
          <a:xfrm>
            <a:off x="9198864" y="18288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196596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884664" y="187452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신뢰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9198864" y="2514600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공개 자료와 개인 기록을 분리해 근거 없는 단정과 잘못된 법률 판단을 줄임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일반적인 답변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5989320" y="3886200"/>
            <a:ext cx="5650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마음결의 응답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548640" y="4343400"/>
            <a:ext cx="475488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731520" y="43434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“결혼식이면 보통 5만 원입니다.”</a:t>
            </a:r>
            <a:endParaRPr lang="en-US" sz="14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832" y="4617720"/>
            <a:ext cx="246888" cy="246888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5989320" y="4343400"/>
            <a:ext cx="5650992" cy="777240"/>
          </a:xfrm>
          <a:prstGeom prst="roundRect">
            <a:avLst>
              <a:gd name="adj" fmla="val 11765"/>
            </a:avLst>
          </a:prstGeom>
          <a:solidFill>
            <a:srgbClr val="FBE9EC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6172200" y="43434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“예산 30만 원은 상한일 뿐이에요. 친밀도·주고받은 기록·식사 여부를 반영해 7만 원을 참고액으로 드려요.”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548640" y="5257800"/>
            <a:ext cx="475488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731520" y="52578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“장례식이면 5만 원을 보내세요.”</a:t>
            </a:r>
            <a:endParaRPr lang="en-US" sz="14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3832" y="5532120"/>
            <a:ext cx="246888" cy="246888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5989320" y="5257800"/>
            <a:ext cx="5650992" cy="777240"/>
          </a:xfrm>
          <a:prstGeom prst="roundRect">
            <a:avLst>
              <a:gd name="adj" fmla="val 11765"/>
            </a:avLst>
          </a:prstGeom>
          <a:solidFill>
            <a:srgbClr val="FBE9EC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6172200" y="52578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“계약 심사 관계가 있어 금액 제안을 보류합니다. 직무 관련성과 기관 규정을 먼저 확인해 주세요.”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60"/>
                </a:solidFill>
              </a:rPr>
              <a:t>10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474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ⓖ 기대 효과 및 확장 가능성 (2/2)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3302E"/>
                </a:solidFill>
              </a:rPr>
              <a:t>2박 3일의 한계, 그리고 다음 단계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2박 3일 동안 다 하지 못한 것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55080" y="1554480"/>
            <a:ext cx="5285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다음 단계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BE9EC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1122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226564"/>
            <a:ext cx="228600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80160" y="206654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02E"/>
                </a:solidFill>
              </a:rPr>
              <a:t>시연용 로그인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60"/>
                </a:solidFill>
              </a:rPr>
              <a:t>실제 인증·권한 관리 없이 시연용 세션으로 동작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2231136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55080" y="2011680"/>
            <a:ext cx="5285232" cy="658368"/>
          </a:xfrm>
          <a:prstGeom prst="roundRect">
            <a:avLst>
              <a:gd name="adj" fmla="val 13889"/>
            </a:avLst>
          </a:prstGeom>
          <a:solidFill>
            <a:srgbClr val="E6F1E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537960" y="206654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실서비스 보안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02E"/>
                </a:solidFill>
              </a:rPr>
              <a:t>인증·인가, HTTPS, 접근 통제, 개인정보 처리 방침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2779776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BE9EC"/>
          </a:solidFill>
          <a:ln/>
        </p:spPr>
      </p:sp>
      <p:sp>
        <p:nvSpPr>
          <p:cNvPr id="15" name="Shape 11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99466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28346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02E"/>
                </a:solidFill>
              </a:rPr>
              <a:t>합성 데이터로만 검증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60"/>
                </a:solidFill>
              </a:rPr>
              <a:t>가상 인물·거래로 시험했고 실사용자 테스트는 아직</a:t>
            </a:r>
            <a:endParaRPr lang="en-US" sz="14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2999232"/>
            <a:ext cx="219456" cy="21945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55080" y="2779776"/>
            <a:ext cx="5285232" cy="658368"/>
          </a:xfrm>
          <a:prstGeom prst="roundRect">
            <a:avLst>
              <a:gd name="adj" fmla="val 13889"/>
            </a:avLst>
          </a:prstGeom>
          <a:solidFill>
            <a:srgbClr val="E6F1EE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537960" y="283464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실사용자 검증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02E"/>
                </a:solidFill>
              </a:rPr>
              <a:t>베타 테스트, AI 사용·미사용 결과 비교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48640" y="3547872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BE9EC"/>
          </a:solidFill>
          <a:ln/>
        </p:spPr>
      </p:sp>
      <p:sp>
        <p:nvSpPr>
          <p:cNvPr id="22" name="Shape 16"/>
          <p:cNvSpPr/>
          <p:nvPr/>
        </p:nvSpPr>
        <p:spPr>
          <a:xfrm>
            <a:off x="685800" y="36484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762756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80160" y="360273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02E"/>
                </a:solidFill>
              </a:rPr>
              <a:t>품질 평가 일부만 완료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60"/>
                </a:solidFill>
              </a:rPr>
              <a:t>실제 모델 다중 턴 평가와 브라우저 E2E 자동화 미완료</a:t>
            </a:r>
            <a:endParaRPr lang="en-US" sz="14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8" y="3767328"/>
            <a:ext cx="219456" cy="219456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355080" y="3547872"/>
            <a:ext cx="5285232" cy="658368"/>
          </a:xfrm>
          <a:prstGeom prst="roundRect">
            <a:avLst>
              <a:gd name="adj" fmla="val 13889"/>
            </a:avLst>
          </a:prstGeom>
          <a:solidFill>
            <a:srgbClr val="E6F1EE"/>
          </a:solidFill>
          <a:ln/>
        </p:spPr>
      </p:sp>
      <p:sp>
        <p:nvSpPr>
          <p:cNvPr id="27" name="Text 19"/>
          <p:cNvSpPr txBox="1"/>
          <p:nvPr/>
        </p:nvSpPr>
        <p:spPr>
          <a:xfrm>
            <a:off x="6537960" y="360273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품질 평가 자동화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02E"/>
                </a:solidFill>
              </a:rPr>
              <a:t>80개 시나리오 실모델 평가, 브라우저 E2E 자동화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548640" y="4315968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BE9EC"/>
          </a:solidFill>
          <a:ln/>
        </p:spPr>
      </p:sp>
      <p:sp>
        <p:nvSpPr>
          <p:cNvPr id="29" name="Shape 21"/>
          <p:cNvSpPr/>
          <p:nvPr/>
        </p:nvSpPr>
        <p:spPr>
          <a:xfrm>
            <a:off x="685800" y="44165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4530852"/>
            <a:ext cx="228600" cy="2286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280160" y="437083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02E"/>
                </a:solidFill>
              </a:rPr>
              <a:t>법률 전문가 검토 전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60"/>
                </a:solidFill>
              </a:rPr>
              <a:t>공개 법령·자료만 근거로 사용, 전문가 검토는 받지 못함</a:t>
            </a:r>
            <a:endParaRPr lang="en-US" sz="14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1888" y="4535424"/>
            <a:ext cx="219456" cy="219456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6355080" y="4315968"/>
            <a:ext cx="5285232" cy="658368"/>
          </a:xfrm>
          <a:prstGeom prst="roundRect">
            <a:avLst>
              <a:gd name="adj" fmla="val 13889"/>
            </a:avLst>
          </a:prstGeom>
          <a:solidFill>
            <a:srgbClr val="E6F1EE"/>
          </a:solidFill>
          <a:ln/>
        </p:spPr>
      </p:sp>
      <p:sp>
        <p:nvSpPr>
          <p:cNvPr id="34" name="Text 24"/>
          <p:cNvSpPr txBox="1"/>
          <p:nvPr/>
        </p:nvSpPr>
        <p:spPr>
          <a:xfrm>
            <a:off x="6537960" y="437083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근거 최신화와 자문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02E"/>
                </a:solidFill>
              </a:rPr>
              <a:t>법령·행동강령 변경 추적, 전문가 검토</a:t>
            </a:r>
            <a:endParaRPr lang="en-US" sz="1400" dirty="0"/>
          </a:p>
        </p:txBody>
      </p:sp>
      <p:sp>
        <p:nvSpPr>
          <p:cNvPr id="35" name="Shape 25"/>
          <p:cNvSpPr/>
          <p:nvPr/>
        </p:nvSpPr>
        <p:spPr>
          <a:xfrm>
            <a:off x="548640" y="5084064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BE9EC"/>
          </a:solidFill>
          <a:ln/>
        </p:spPr>
      </p:sp>
      <p:sp>
        <p:nvSpPr>
          <p:cNvPr id="36" name="Shape 26"/>
          <p:cNvSpPr/>
          <p:nvPr/>
        </p:nvSpPr>
        <p:spPr>
          <a:xfrm>
            <a:off x="685800" y="51846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5298948"/>
            <a:ext cx="228600" cy="2286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280160" y="513892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02E"/>
                </a:solidFill>
              </a:rPr>
              <a:t>웹 시연 범위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60"/>
                </a:solidFill>
              </a:rPr>
              <a:t>회원가입 직업 입력, 모바일 앱, 외부 서비스 연계 미구현</a:t>
            </a:r>
            <a:endParaRPr lang="en-US" sz="14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1888" y="5303520"/>
            <a:ext cx="219456" cy="219456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6355080" y="5084064"/>
            <a:ext cx="5285232" cy="658368"/>
          </a:xfrm>
          <a:prstGeom prst="roundRect">
            <a:avLst>
              <a:gd name="adj" fmla="val 13889"/>
            </a:avLst>
          </a:prstGeom>
          <a:solidFill>
            <a:srgbClr val="E6F1EE"/>
          </a:solidFill>
          <a:ln/>
        </p:spPr>
      </p:sp>
      <p:sp>
        <p:nvSpPr>
          <p:cNvPr id="41" name="Text 29"/>
          <p:cNvSpPr txBox="1"/>
          <p:nvPr/>
        </p:nvSpPr>
        <p:spPr>
          <a:xfrm>
            <a:off x="6537960" y="513892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모바일·서비스 연계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02E"/>
                </a:solidFill>
              </a:rPr>
              <a:t>일정 알림 앱, 청첩장·부고 인식, 기업 준법 도구</a:t>
            </a:r>
            <a:endParaRPr lang="en-US" sz="1400" dirty="0"/>
          </a:p>
        </p:txBody>
      </p:sp>
      <p:sp>
        <p:nvSpPr>
          <p:cNvPr id="42" name="Text 30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302E"/>
                </a:solidFill>
              </a:rPr>
              <a:t>마음은 지키고, 선은 넘지 않게 — </a:t>
            </a:r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마음결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eumgyeol">
  <a:themeElements>
    <a:clrScheme name="Maeumgyeol">
      <a:dk1>
        <a:srgbClr val="1F2A44"/>
      </a:dk1>
      <a:lt1>
        <a:srgbClr val="FFFFFF"/>
      </a:lt1>
      <a:dk2>
        <a:srgbClr val="5B6478"/>
      </a:dk2>
      <a:lt2>
        <a:srgbClr val="F6F1EC"/>
      </a:lt2>
      <a:accent1>
        <a:srgbClr val="D9677A"/>
      </a:accent1>
      <a:accent2>
        <a:srgbClr val="3E8E7E"/>
      </a:accent2>
      <a:accent3>
        <a:srgbClr val="D9962B"/>
      </a:accent3>
      <a:accent4>
        <a:srgbClr val="C8453C"/>
      </a:accent4>
      <a:accent5>
        <a:srgbClr val="4A5A85"/>
      </a:accent5>
      <a:accent6>
        <a:srgbClr val="A8B0C2"/>
      </a:accent6>
      <a:hlink>
        <a:srgbClr val="4A5A85"/>
      </a:hlink>
      <a:folHlink>
        <a:srgbClr val="5B6478"/>
      </a:folHlink>
    </a:clrScheme>
    <a:fontScheme name="Maeumgyeol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마음결 — 해커톤 발표자료</dc:title>
  <dc:subject>PptxGenJS Presentation</dc:subject>
  <dc:creator>밑져야 경험</dc:creator>
  <cp:lastModifiedBy>밑져야 경험</cp:lastModifiedBy>
  <cp:revision>1</cp:revision>
  <dcterms:created xsi:type="dcterms:W3CDTF">2026-11-01T02:35:02Z</dcterms:created>
  <dcterms:modified xsi:type="dcterms:W3CDTF">2026-11-01T02:35:02Z</dcterms:modified>
</cp:coreProperties>
</file>
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extLst>
    <p:ext uri="{521415D9-36F7-43E2-AB2F-B90AF26B5E84}">
      <p14:sectionLst xmlns:p14="http://schemas.microsoft.com/office/powerpoint/2010/main">
        <p14:section name="표지" id="{c418d07b-6033-5252-c3ff-c9df5681efb0}">
          <p14:sldIdLst>
            <p14:sldId id="256"/>
          </p14:sldIdLst>
        </p14:section>
        <p14:section name="ⓔ 팀원별 역할 분담" id="{06a38b98-f247-9744-2efa-ba07bc0286a5}">
          <p14:sldIdLst>
            <p14:sldId id="257"/>
          </p14:sldIdLst>
        </p14:section>
        <p14:section name="ⓐ 문제 정의" id="{1f4e8c2e-5904-ae5a-c682-504ea72f57f1}">
          <p14:sldIdLst>
            <p14:sldId id="258"/>
          </p14:sldIdLst>
        </p14:section>
        <p14:section name="ⓑ 해결 방안 및 주요 기능" id="{afddd591-8033-7289-53b8-af8797a57e6f}">
          <p14:sldIdLst>
            <p14:sldId id="259"/>
            <p14:sldId id="260"/>
          </p14:sldIdLst>
        </p14:section>
        <p14:section name="ⓒ 활용 AI 기술 및 직접 개발 범위" id="{2c4431d5-078c-09e1-1845-2775ed49e92f}">
          <p14:sldIdLst>
            <p14:sldId id="261"/>
            <p14:sldId id="262"/>
          </p14:sldIdLst>
        </p14:section>
        <p14:section name="ⓓ 개발 환경 및 기술 스택" id="{ac1d58dd-5a7a-395f-8aa7-ce38054f18df}">
          <p14:sldIdLst>
            <p14:sldId id="263"/>
          </p14:sldIdLst>
        </p14:section>
        <p14:section name="ⓕ 외부 자원 활용 내역" id="{2c390cf8-f9e6-d69e-8b62-c2a4b987a6ee}">
          <p14:sldIdLst>
            <p14:sldId id="264"/>
          </p14:sldIdLst>
        </p14:section>
        <p14:section name="ⓖ 기대 효과 및 확장 가능성" id="{029ba859-7a94-9ff5-8c3b-c541524e0e5b}">
          <p14:sldIdLst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슬라이드를 이동하려면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&lt;머리글&gt;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defRPr>
            </a:lvl1pPr>
          </a:lstStyle>
          <a:p>
            <a:pPr indent="0" algn="r">
              <a:buNone/>
            </a:pPr>
            <a:fld id="{44B2580F-3D3D-467E-AFF7-7A8796D82DB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DEAE86-4BFD-4530-B8CC-BC6B962B84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팀 구성을 먼저 소개합니다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역할은 팀에서 공유한 분담 기준이며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발표 전 각자 실제 기여 내용을 최종 확인합니다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0816FE-0C2D-4BC9-884D-34FAC07920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C31630-09F9-4591-80F7-F2ACA07B4F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59EC8D-277A-4FAF-A9A6-D7D6AF5342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화면은 합성 데이터 시연 영상에서 캡처했습니다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고정 시연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(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법률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직무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10 +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감정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관계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10)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로 동작을 확인했으며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별도의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80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개 시나리오 카탈로그는 전체 실모델 검증 완료를 뜻하지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DA6D4-48A9-42D9-AE02-8C56FDCDFE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8BC0C8-5BFD-43D2-AA62-1D090D44DB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2A0BE5-A738-44B3-960F-00B343AAAE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테스트 수치는 병합 전 통합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CI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기준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(Python 161 PASS, React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테스트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빌드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PASS)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발표 직전 최신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CI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결과로 갱신하세요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 Ncloud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는 백엔드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health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응답 확인 기준이며 전체 서비스 배포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브라우저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E2E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와는 구분합니다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1257F6-AF26-4E4E-86E6-6EB4823844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가이드의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열 양식을 그대로 사용했습니다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미기재 후 사용이 확인되면 실격이므로 발표 전 팀 전체가 최종 확인합니다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인간관계 연구자료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물가 자료 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RAG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참고 자료는 출처별 이용 조건을 다시 확인하세요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CDD509-E520-4971-9DAC-8CACBC2FED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Before/After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는 실제 시연 화면의 응답을 요약한 것으로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성능 실험 결과가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결정 시간 단축률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법 위반 예방률 같은 정량 성과는 실사용 실험 전이므로 주장하지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01DAA0-4CCC-4169-A83A-9AF8486B2A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3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일 동안 핵심 판단 흐름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(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추천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확인 질문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보류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)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촌 공유 추천까지는 구현했지만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실서비스에 필요한 보안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실사용자 검증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법률 검토는 시간상 다음 단계로 남겼습니다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각 한계를 오른쪽의 다음 단계로 해결할 계획입니다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B2876A-E599-4F06-8E22-8A2A66734B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</a:lstStyle>
          <a:p>
            <a:pPr indent="0" algn="l">
              <a:buNone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개요 텍스트의 서식을 편집하려면 클릭하십시오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2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3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4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5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6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7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ko-KR" sz="3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</a:lstStyle>
          <a:p>
            <a:pPr indent="0" algn="l">
              <a:buNone/>
            </a:pPr>
            <a:r>
              <a:rPr lang="ko-KR" sz="3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제목 텍스트의 서식을 편집하려면 클릭하십시오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6" name="Text 0"/>
          <p:cNvSpPr/>
          <p:nvPr/>
        </p:nvSpPr>
        <p:spPr>
          <a:xfrm>
            <a:off x="548640" y="6400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마음결 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· </a:t>
            </a:r>
            <a:r>
              <a:rPr lang="ko-KR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밑져야 경험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개요 텍스트의 서식을 편집하려면 클릭하십시오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2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3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4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5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6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7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ko-KR" sz="3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</a:lstStyle>
          <a:p>
            <a:pPr indent="0" algn="l">
              <a:buNone/>
            </a:pPr>
            <a:r>
              <a:rPr lang="ko-KR" sz="3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제목 텍스트의 서식을 편집하려면 클릭하십시오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Relationship Id="rId9" Type="http://schemas.openxmlformats.org/officeDocument/2006/relationships/image" Target="../media/image15.png"/><Relationship Id="rId10" Type="http://schemas.openxmlformats.org/officeDocument/2006/relationships/image" Target="../media/image11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31.png"/><Relationship Id="rId6" Type="http://schemas.openxmlformats.org/officeDocument/2006/relationships/image" Target="../media/image3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1.png"/><Relationship Id="rId3" Type="http://schemas.openxmlformats.org/officeDocument/2006/relationships/image" Target="../media/image13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8.png"/><Relationship Id="rId8" Type="http://schemas.openxmlformats.org/officeDocument/2006/relationships/image" Target="../media/image31.png"/><Relationship Id="rId9" Type="http://schemas.openxmlformats.org/officeDocument/2006/relationships/image" Target="../media/image33.png"/><Relationship Id="rId10" Type="http://schemas.openxmlformats.org/officeDocument/2006/relationships/image" Target="../media/image31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마음결 — 기록에 근거하고, 예산을 지키고, 위험할 땐 멈춥니다. 경조사 AI 추천·직무 관련성 검토 통합 발표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hasCustomPrompt="1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ⓔ 팀원별 역할 분담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다섯 명이 각자의 강점으로 하나의 서비스를 완성했습니다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19" name="team-고준석"/>
          <p:cNvSpPr/>
          <p:nvPr/>
        </p:nvSpPr>
        <p:spPr>
          <a:xfrm>
            <a:off x="548640" y="1691640"/>
            <a:ext cx="2102760" cy="43430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1188720" y="1965960"/>
            <a:ext cx="822600" cy="82260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1" name="Image 0" descr="preencoded.png"/>
          <p:cNvPicPr/>
          <p:nvPr/>
        </p:nvPicPr>
        <p:blipFill>
          <a:blip r:embed="rId1"/>
          <a:stretch/>
        </p:blipFill>
        <p:spPr>
          <a:xfrm>
            <a:off x="1394640" y="217188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5"/>
          <p:cNvSpPr/>
          <p:nvPr/>
        </p:nvSpPr>
        <p:spPr>
          <a:xfrm>
            <a:off x="548640" y="292608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고준석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" name="Text 6"/>
          <p:cNvSpPr/>
          <p:nvPr/>
        </p:nvSpPr>
        <p:spPr>
          <a:xfrm>
            <a:off x="548640" y="33559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팀장 </a:t>
            </a: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· AI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" name="Text 7"/>
          <p:cNvSpPr/>
          <p:nvPr/>
        </p:nvSpPr>
        <p:spPr>
          <a:xfrm>
            <a:off x="749880" y="3840480"/>
            <a:ext cx="1700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서비스 기획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통합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AI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추천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·RAG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연계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가상 데이터 테스트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최종 제출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685800" y="4983480"/>
            <a:ext cx="1828440" cy="86832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" name="Text 9"/>
          <p:cNvSpPr/>
          <p:nvPr/>
        </p:nvSpPr>
        <p:spPr>
          <a:xfrm>
            <a:off x="795600" y="5056560"/>
            <a:ext cx="160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믿을 수 있는 </a:t>
            </a:r>
            <a:r>
              <a:rPr lang="en-US" sz="12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AI </a:t>
            </a:r>
            <a:r>
              <a:rPr lang="ko-KR" sz="12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추천과 판단 기준 설계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" name="team-박주선"/>
          <p:cNvSpPr/>
          <p:nvPr/>
        </p:nvSpPr>
        <p:spPr>
          <a:xfrm>
            <a:off x="2834640" y="1691640"/>
            <a:ext cx="2102760" cy="43430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" name="Shape 11"/>
          <p:cNvSpPr/>
          <p:nvPr/>
        </p:nvSpPr>
        <p:spPr>
          <a:xfrm>
            <a:off x="3474720" y="1965960"/>
            <a:ext cx="822600" cy="8226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29" name="Image 1" descr="preencoded.png"/>
          <p:cNvPicPr/>
          <p:nvPr/>
        </p:nvPicPr>
        <p:blipFill>
          <a:blip r:embed="rId2"/>
          <a:stretch/>
        </p:blipFill>
        <p:spPr>
          <a:xfrm>
            <a:off x="3680640" y="217188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12"/>
          <p:cNvSpPr/>
          <p:nvPr/>
        </p:nvSpPr>
        <p:spPr>
          <a:xfrm>
            <a:off x="2834640" y="292608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박주선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2834640" y="33559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3"/>
                </a:solidFill>
                <a:effectLst/>
                <a:uFillTx/>
                <a:latin typeface="Malgun Gothic"/>
              </a:rPr>
              <a:t>UI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3035880" y="3840480"/>
            <a:ext cx="1700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사용자 인터페이스 설계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화면 흐름 구성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사용성 개선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2971800" y="4983480"/>
            <a:ext cx="1828440" cy="86832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3081600" y="5056560"/>
            <a:ext cx="160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chemeClr val="accent3"/>
                </a:solidFill>
                <a:effectLst/>
                <a:uFillTx/>
                <a:latin typeface="Malgun Gothic"/>
              </a:rPr>
              <a:t>처음 써도 헤매지 않는 화면 흐름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5" name="team-이열형"/>
          <p:cNvSpPr/>
          <p:nvPr/>
        </p:nvSpPr>
        <p:spPr>
          <a:xfrm>
            <a:off x="5120640" y="1691640"/>
            <a:ext cx="2102760" cy="43430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6" name="Shape 18"/>
          <p:cNvSpPr/>
          <p:nvPr/>
        </p:nvSpPr>
        <p:spPr>
          <a:xfrm>
            <a:off x="5760720" y="1965960"/>
            <a:ext cx="822600" cy="822600"/>
          </a:xfrm>
          <a:prstGeom prst="ellipse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37" name="Image 2" descr="preencoded.png"/>
          <p:cNvPicPr/>
          <p:nvPr/>
        </p:nvPicPr>
        <p:blipFill>
          <a:blip r:embed="rId3"/>
          <a:stretch/>
        </p:blipFill>
        <p:spPr>
          <a:xfrm>
            <a:off x="5966640" y="217188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9"/>
          <p:cNvSpPr/>
          <p:nvPr/>
        </p:nvSpPr>
        <p:spPr>
          <a:xfrm>
            <a:off x="5120640" y="292608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이열형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5120640" y="33559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chemeClr val="accent5"/>
                </a:solidFill>
                <a:effectLst/>
                <a:uFillTx/>
                <a:latin typeface="Malgun Gothic"/>
              </a:rPr>
              <a:t>백엔드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5321880" y="3840480"/>
            <a:ext cx="1700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서버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·API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개발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서비스 로직 구현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데이터 연동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5257800" y="4983480"/>
            <a:ext cx="1828440" cy="86832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5367600" y="5056560"/>
            <a:ext cx="160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5"/>
                </a:solidFill>
                <a:effectLst/>
                <a:uFillTx/>
                <a:latin typeface="Malgun Gothic"/>
              </a:rPr>
              <a:t>AI·</a:t>
            </a:r>
            <a:r>
              <a:rPr lang="ko-KR" sz="1200" b="1" u="none" strike="noStrike">
                <a:solidFill>
                  <a:schemeClr val="accent5"/>
                </a:solidFill>
                <a:effectLst/>
                <a:uFillTx/>
                <a:latin typeface="Malgun Gothic"/>
              </a:rPr>
              <a:t>인맥</a:t>
            </a:r>
            <a:r>
              <a:rPr lang="en-US" sz="1200" b="1" u="none" strike="noStrike">
                <a:solidFill>
                  <a:schemeClr val="accent5"/>
                </a:solidFill>
                <a:effectLst/>
                <a:uFillTx/>
                <a:latin typeface="Malgun Gothic"/>
              </a:rPr>
              <a:t>·</a:t>
            </a:r>
            <a:r>
              <a:rPr lang="ko-KR" sz="1200" b="1" u="none" strike="noStrike">
                <a:solidFill>
                  <a:schemeClr val="accent5"/>
                </a:solidFill>
                <a:effectLst/>
                <a:uFillTx/>
                <a:latin typeface="Malgun Gothic"/>
              </a:rPr>
              <a:t>경조사 기능을 하나의 서버로 연결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3" name="team-채민성"/>
          <p:cNvSpPr/>
          <p:nvPr/>
        </p:nvSpPr>
        <p:spPr>
          <a:xfrm>
            <a:off x="7406640" y="1691640"/>
            <a:ext cx="2102760" cy="43430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4" name="Shape 25"/>
          <p:cNvSpPr/>
          <p:nvPr/>
        </p:nvSpPr>
        <p:spPr>
          <a:xfrm>
            <a:off x="8046720" y="1965960"/>
            <a:ext cx="822600" cy="8226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45" name="Image 3" descr="preencoded.png"/>
          <p:cNvPicPr/>
          <p:nvPr/>
        </p:nvPicPr>
        <p:blipFill>
          <a:blip r:embed="rId4"/>
          <a:stretch/>
        </p:blipFill>
        <p:spPr>
          <a:xfrm>
            <a:off x="8252640" y="217188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26"/>
          <p:cNvSpPr/>
          <p:nvPr/>
        </p:nvSpPr>
        <p:spPr>
          <a:xfrm>
            <a:off x="7406640" y="292608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채민성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7" name="Text 27"/>
          <p:cNvSpPr/>
          <p:nvPr/>
        </p:nvSpPr>
        <p:spPr>
          <a:xfrm>
            <a:off x="7406640" y="33559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프런트엔드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" name="Text 28"/>
          <p:cNvSpPr/>
          <p:nvPr/>
        </p:nvSpPr>
        <p:spPr>
          <a:xfrm>
            <a:off x="7607880" y="3840480"/>
            <a:ext cx="1700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웹 화면 개발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API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연결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상담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일정 화면 구현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9" name="Shape 29"/>
          <p:cNvSpPr/>
          <p:nvPr/>
        </p:nvSpPr>
        <p:spPr>
          <a:xfrm>
            <a:off x="7543800" y="4983480"/>
            <a:ext cx="1828440" cy="86832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0" name="Text 30"/>
          <p:cNvSpPr/>
          <p:nvPr/>
        </p:nvSpPr>
        <p:spPr>
          <a:xfrm>
            <a:off x="7653600" y="5056560"/>
            <a:ext cx="160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AI </a:t>
            </a:r>
            <a:r>
              <a:rPr lang="ko-KR" sz="12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상담 결과를 보여 주는 웹 화면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1" name="team-박영세"/>
          <p:cNvSpPr/>
          <p:nvPr/>
        </p:nvSpPr>
        <p:spPr>
          <a:xfrm>
            <a:off x="9692640" y="1691640"/>
            <a:ext cx="2102760" cy="43430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" name="Shape 32"/>
          <p:cNvSpPr/>
          <p:nvPr/>
        </p:nvSpPr>
        <p:spPr>
          <a:xfrm>
            <a:off x="10332720" y="1965960"/>
            <a:ext cx="822600" cy="82260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53" name="Image 4" descr="preencoded.png"/>
          <p:cNvPicPr/>
          <p:nvPr/>
        </p:nvPicPr>
        <p:blipFill>
          <a:blip r:embed="rId5"/>
          <a:stretch/>
        </p:blipFill>
        <p:spPr>
          <a:xfrm>
            <a:off x="10538640" y="217188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33"/>
          <p:cNvSpPr/>
          <p:nvPr/>
        </p:nvSpPr>
        <p:spPr>
          <a:xfrm>
            <a:off x="9692640" y="292608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박영세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5" name="Text 34"/>
          <p:cNvSpPr/>
          <p:nvPr/>
        </p:nvSpPr>
        <p:spPr>
          <a:xfrm>
            <a:off x="9692640" y="33559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chemeClr val="accent4"/>
                </a:solidFill>
                <a:effectLst/>
                <a:uFillTx/>
                <a:latin typeface="Malgun Gothic"/>
              </a:rPr>
              <a:t>자료 조사 </a:t>
            </a:r>
            <a:r>
              <a:rPr lang="en-US" sz="1300" b="1" u="none" strike="noStrike">
                <a:solidFill>
                  <a:schemeClr val="accent4"/>
                </a:solidFill>
                <a:effectLst/>
                <a:uFillTx/>
                <a:latin typeface="Malgun Gothic"/>
              </a:rPr>
              <a:t>· </a:t>
            </a:r>
            <a:r>
              <a:rPr lang="ko-KR" sz="1300" b="1" u="none" strike="noStrike">
                <a:solidFill>
                  <a:schemeClr val="accent4"/>
                </a:solidFill>
                <a:effectLst/>
                <a:uFillTx/>
                <a:latin typeface="Malgun Gothic"/>
              </a:rPr>
              <a:t>발표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6" name="Text 35"/>
          <p:cNvSpPr/>
          <p:nvPr/>
        </p:nvSpPr>
        <p:spPr>
          <a:xfrm>
            <a:off x="9893880" y="3840480"/>
            <a:ext cx="1700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자료 조사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PPT·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발표 자료 제작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시연 흐름 구성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" name="Shape 36"/>
          <p:cNvSpPr/>
          <p:nvPr/>
        </p:nvSpPr>
        <p:spPr>
          <a:xfrm>
            <a:off x="9829800" y="4983480"/>
            <a:ext cx="1828440" cy="86832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8" name="Text 37"/>
          <p:cNvSpPr/>
          <p:nvPr/>
        </p:nvSpPr>
        <p:spPr>
          <a:xfrm>
            <a:off x="9939600" y="5056560"/>
            <a:ext cx="160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chemeClr val="accent4"/>
                </a:solidFill>
                <a:effectLst/>
                <a:uFillTx/>
                <a:latin typeface="Malgun Gothic"/>
              </a:rPr>
              <a:t>근거 자료와 전달력 있는 발표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hasCustomPrompt="1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ⓐ 문제 정의 및 목표 사용자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경조사비는 정답이 없는데</a:t>
            </a: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틀리면 부담이 큽니다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548640" y="1691640"/>
            <a:ext cx="4114440" cy="1096920"/>
          </a:xfrm>
          <a:prstGeom prst="roundRect">
            <a:avLst>
              <a:gd name="adj" fmla="val 20833"/>
            </a:avLst>
          </a:prstGeom>
          <a:solidFill>
            <a:srgbClr val="F6F1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" name="Text 4"/>
          <p:cNvSpPr/>
          <p:nvPr/>
        </p:nvSpPr>
        <p:spPr>
          <a:xfrm>
            <a:off x="777240" y="1828800"/>
            <a:ext cx="3702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“예산이 </a:t>
            </a: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3</a:t>
            </a:r>
            <a:r>
              <a:rPr lang="ko-KR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만 원밖에 없는데…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이 정도면 괜찮을까</a:t>
            </a: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?”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868680" y="3063240"/>
            <a:ext cx="4114440" cy="1096920"/>
          </a:xfrm>
          <a:prstGeom prst="roundRect">
            <a:avLst>
              <a:gd name="adj" fmla="val 20833"/>
            </a:avLst>
          </a:prstGeom>
          <a:solidFill>
            <a:srgbClr val="F6F1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" name="Text 6"/>
          <p:cNvSpPr/>
          <p:nvPr/>
        </p:nvSpPr>
        <p:spPr>
          <a:xfrm>
            <a:off x="1097280" y="3200400"/>
            <a:ext cx="3702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“지난번에 </a:t>
            </a: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10</a:t>
            </a:r>
            <a:r>
              <a:rPr lang="ko-KR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만 원을 받았는데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나도 똑같이 돌려줘야 하나</a:t>
            </a: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?”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548640" y="4434840"/>
            <a:ext cx="4114440" cy="1096920"/>
          </a:xfrm>
          <a:prstGeom prst="roundRect">
            <a:avLst>
              <a:gd name="adj" fmla="val 20833"/>
            </a:avLst>
          </a:prstGeom>
          <a:solidFill>
            <a:srgbClr val="FBE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" name="Text 8"/>
          <p:cNvSpPr/>
          <p:nvPr/>
        </p:nvSpPr>
        <p:spPr>
          <a:xfrm>
            <a:off x="777240" y="4572000"/>
            <a:ext cx="3702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“내가 계약 담당자인데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거래처 부친상에 보내도 될까</a:t>
            </a: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?”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5486400" y="1783080"/>
            <a:ext cx="685440" cy="685440"/>
          </a:xfrm>
          <a:prstGeom prst="ellipse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5657760" y="19544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10"/>
          <p:cNvSpPr/>
          <p:nvPr/>
        </p:nvSpPr>
        <p:spPr>
          <a:xfrm>
            <a:off x="6400800" y="1737360"/>
            <a:ext cx="5211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금액을 정하기 어렵다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6400800" y="2148840"/>
            <a:ext cx="5211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관계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, </a:t>
            </a: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주고받은 금액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, </a:t>
            </a: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참석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·</a:t>
            </a: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식사 여부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, </a:t>
            </a: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내 예산까지 한꺼번에 따져야 합니다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5486400" y="3154680"/>
            <a:ext cx="685440" cy="6854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73" name="Image 1" descr="preencoded.png"/>
          <p:cNvPicPr/>
          <p:nvPr/>
        </p:nvPicPr>
        <p:blipFill>
          <a:blip r:embed="rId2"/>
          <a:stretch/>
        </p:blipFill>
        <p:spPr>
          <a:xfrm>
            <a:off x="5657760" y="33260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13"/>
          <p:cNvSpPr/>
          <p:nvPr/>
        </p:nvSpPr>
        <p:spPr>
          <a:xfrm>
            <a:off x="6400800" y="3108960"/>
            <a:ext cx="5211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법</a:t>
            </a:r>
            <a:r>
              <a:rPr lang="en-US" sz="19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9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직무상 위험이 있다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6400800" y="3520440"/>
            <a:ext cx="5211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공직자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·</a:t>
            </a: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교사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·</a:t>
            </a: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계약 심사 담당자라면 “얼마를 낼까”보다 “내도 되는가”를 먼저 확인해야 합니다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5486400" y="4526280"/>
            <a:ext cx="685440" cy="6854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77" name="Image 2" descr="preencoded.png"/>
          <p:cNvPicPr/>
          <p:nvPr/>
        </p:nvPicPr>
        <p:blipFill>
          <a:blip r:embed="rId3"/>
          <a:stretch/>
        </p:blipFill>
        <p:spPr>
          <a:xfrm>
            <a:off x="5657760" y="46976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16"/>
          <p:cNvSpPr/>
          <p:nvPr/>
        </p:nvSpPr>
        <p:spPr>
          <a:xfrm>
            <a:off x="6400800" y="4480560"/>
            <a:ext cx="5211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관계의 사정이 복잡하다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6400800" y="4892040"/>
            <a:ext cx="5211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“늘 내가 더 냈다”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, “</a:t>
            </a: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오랫동안 연락이 없었다” 같은 사정은 평균 금액만으로 판단할 수 없습니다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548640" y="583380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목표 사용자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1920240" y="5833800"/>
            <a:ext cx="2742840" cy="383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1920240" y="58338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첫 축의금이 고민인 사회초년생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3" name="Shape 21"/>
          <p:cNvSpPr/>
          <p:nvPr/>
        </p:nvSpPr>
        <p:spPr>
          <a:xfrm>
            <a:off x="4846320" y="5833800"/>
            <a:ext cx="3108600" cy="383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4846320" y="5833800"/>
            <a:ext cx="3108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직무상 이해관계가 있는 공직자</a:t>
            </a: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담당자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5" name="Shape 23"/>
          <p:cNvSpPr/>
          <p:nvPr/>
        </p:nvSpPr>
        <p:spPr>
          <a:xfrm>
            <a:off x="8138160" y="5833800"/>
            <a:ext cx="3382920" cy="383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8138160" y="5833800"/>
            <a:ext cx="3382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오랜 경조사 거래와 인맥을 관리하는 직장인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hasCustomPrompt="1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ⓑ 해결 방안 및 주요 기능 </a:t>
            </a: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(1/2)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마음결은 추천하고</a:t>
            </a: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되묻고</a:t>
            </a: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멈춥니다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90" name="step-0"/>
          <p:cNvSpPr/>
          <p:nvPr/>
        </p:nvSpPr>
        <p:spPr>
          <a:xfrm>
            <a:off x="548640" y="1691640"/>
            <a:ext cx="1599840" cy="132552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1074600" y="1874520"/>
            <a:ext cx="548280" cy="548280"/>
          </a:xfrm>
          <a:prstGeom prst="ellipse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92" name="Image 0" descr="preencoded.png"/>
          <p:cNvPicPr/>
          <p:nvPr/>
        </p:nvPicPr>
        <p:blipFill>
          <a:blip r:embed="rId1"/>
          <a:stretch/>
        </p:blipFill>
        <p:spPr>
          <a:xfrm>
            <a:off x="1211760" y="2011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5"/>
          <p:cNvSpPr/>
          <p:nvPr/>
        </p:nvSpPr>
        <p:spPr>
          <a:xfrm>
            <a:off x="548640" y="253296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자연어 질문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94" name="Image 1" descr="preencoded.png"/>
          <p:cNvPicPr/>
          <p:nvPr/>
        </p:nvPicPr>
        <p:blipFill>
          <a:blip r:embed="rId2"/>
          <a:stretch/>
        </p:blipFill>
        <p:spPr>
          <a:xfrm>
            <a:off x="2212920" y="224028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step-1"/>
          <p:cNvSpPr/>
          <p:nvPr/>
        </p:nvSpPr>
        <p:spPr>
          <a:xfrm>
            <a:off x="2441520" y="1691640"/>
            <a:ext cx="1599840" cy="132552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2967120" y="1874520"/>
            <a:ext cx="548280" cy="548280"/>
          </a:xfrm>
          <a:prstGeom prst="ellipse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97" name="Image 2" descr="preencoded.png"/>
          <p:cNvPicPr/>
          <p:nvPr/>
        </p:nvPicPr>
        <p:blipFill>
          <a:blip r:embed="rId3"/>
          <a:stretch/>
        </p:blipFill>
        <p:spPr>
          <a:xfrm>
            <a:off x="3104280" y="2011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8"/>
          <p:cNvSpPr/>
          <p:nvPr/>
        </p:nvSpPr>
        <p:spPr>
          <a:xfrm>
            <a:off x="2441520" y="253296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의도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사실 파악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99" name="Image 3" descr="preencoded.png"/>
          <p:cNvPicPr/>
          <p:nvPr/>
        </p:nvPicPr>
        <p:blipFill>
          <a:blip r:embed="rId4"/>
          <a:stretch/>
        </p:blipFill>
        <p:spPr>
          <a:xfrm>
            <a:off x="4105800" y="224028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step-2"/>
          <p:cNvSpPr/>
          <p:nvPr/>
        </p:nvSpPr>
        <p:spPr>
          <a:xfrm>
            <a:off x="4334400" y="1691640"/>
            <a:ext cx="1599840" cy="132552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4860000" y="1874520"/>
            <a:ext cx="548280" cy="548280"/>
          </a:xfrm>
          <a:prstGeom prst="ellipse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102" name="Image 4" descr="preencoded.png"/>
          <p:cNvPicPr/>
          <p:nvPr/>
        </p:nvPicPr>
        <p:blipFill>
          <a:blip r:embed="rId5"/>
          <a:stretch/>
        </p:blipFill>
        <p:spPr>
          <a:xfrm>
            <a:off x="4997160" y="2011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11"/>
          <p:cNvSpPr/>
          <p:nvPr/>
        </p:nvSpPr>
        <p:spPr>
          <a:xfrm>
            <a:off x="4334400" y="253296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인맥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장부 조회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104" name="Image 5" descr="preencoded.png"/>
          <p:cNvPicPr/>
          <p:nvPr/>
        </p:nvPicPr>
        <p:blipFill>
          <a:blip r:embed="rId6"/>
          <a:stretch/>
        </p:blipFill>
        <p:spPr>
          <a:xfrm>
            <a:off x="5998320" y="224028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step-3"/>
          <p:cNvSpPr/>
          <p:nvPr/>
        </p:nvSpPr>
        <p:spPr>
          <a:xfrm>
            <a:off x="6226920" y="1691640"/>
            <a:ext cx="1599840" cy="132552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6752880" y="1874520"/>
            <a:ext cx="548280" cy="548280"/>
          </a:xfrm>
          <a:prstGeom prst="ellipse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107" name="Image 6" descr="preencoded.png"/>
          <p:cNvPicPr/>
          <p:nvPr/>
        </p:nvPicPr>
        <p:blipFill>
          <a:blip r:embed="rId7"/>
          <a:stretch/>
        </p:blipFill>
        <p:spPr>
          <a:xfrm>
            <a:off x="6890040" y="2011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4"/>
          <p:cNvSpPr/>
          <p:nvPr/>
        </p:nvSpPr>
        <p:spPr>
          <a:xfrm>
            <a:off x="6226920" y="253296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공개 근거 검색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109" name="Image 7" descr="preencoded.png"/>
          <p:cNvPicPr/>
          <p:nvPr/>
        </p:nvPicPr>
        <p:blipFill>
          <a:blip r:embed="rId8"/>
          <a:stretch/>
        </p:blipFill>
        <p:spPr>
          <a:xfrm>
            <a:off x="7891200" y="224028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tep-4"/>
          <p:cNvSpPr/>
          <p:nvPr/>
        </p:nvSpPr>
        <p:spPr>
          <a:xfrm>
            <a:off x="8119800" y="1691640"/>
            <a:ext cx="1599840" cy="132552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8645760" y="1874520"/>
            <a:ext cx="548280" cy="548280"/>
          </a:xfrm>
          <a:prstGeom prst="ellipse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112" name="Image 8" descr="preencoded.png"/>
          <p:cNvPicPr/>
          <p:nvPr/>
        </p:nvPicPr>
        <p:blipFill>
          <a:blip r:embed="rId9"/>
          <a:stretch/>
        </p:blipFill>
        <p:spPr>
          <a:xfrm>
            <a:off x="8782920" y="2011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17"/>
          <p:cNvSpPr/>
          <p:nvPr/>
        </p:nvSpPr>
        <p:spPr>
          <a:xfrm>
            <a:off x="8119800" y="253296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직무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법률 검토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114" name="Image 9" descr="preencoded.png"/>
          <p:cNvPicPr/>
          <p:nvPr/>
        </p:nvPicPr>
        <p:blipFill>
          <a:blip r:embed="rId10"/>
          <a:stretch/>
        </p:blipFill>
        <p:spPr>
          <a:xfrm>
            <a:off x="9784080" y="2240280"/>
            <a:ext cx="16416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step-5"/>
          <p:cNvSpPr/>
          <p:nvPr/>
        </p:nvSpPr>
        <p:spPr>
          <a:xfrm>
            <a:off x="10012680" y="1691640"/>
            <a:ext cx="1599840" cy="132552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6" name="Shape 19"/>
          <p:cNvSpPr/>
          <p:nvPr/>
        </p:nvSpPr>
        <p:spPr>
          <a:xfrm>
            <a:off x="10538640" y="1874520"/>
            <a:ext cx="548280" cy="548280"/>
          </a:xfrm>
          <a:prstGeom prst="ellipse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117" name="Image 10" descr="preencoded.png"/>
          <p:cNvPicPr/>
          <p:nvPr/>
        </p:nvPicPr>
        <p:blipFill>
          <a:blip r:embed="rId11"/>
          <a:stretch/>
        </p:blipFill>
        <p:spPr>
          <a:xfrm>
            <a:off x="10675800" y="2011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20"/>
          <p:cNvSpPr/>
          <p:nvPr/>
        </p:nvSpPr>
        <p:spPr>
          <a:xfrm>
            <a:off x="10012680" y="2532960"/>
            <a:ext cx="15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추천 엔진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9" name="out-0"/>
          <p:cNvSpPr/>
          <p:nvPr/>
        </p:nvSpPr>
        <p:spPr>
          <a:xfrm>
            <a:off x="548640" y="3337560"/>
            <a:ext cx="3565800" cy="159984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0" name="Shape 22"/>
          <p:cNvSpPr/>
          <p:nvPr/>
        </p:nvSpPr>
        <p:spPr>
          <a:xfrm>
            <a:off x="777240" y="356616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121" name="Image 11" descr="preencoded.png"/>
          <p:cNvPicPr/>
          <p:nvPr/>
        </p:nvPicPr>
        <p:blipFill>
          <a:blip r:embed="rId12"/>
          <a:stretch/>
        </p:blipFill>
        <p:spPr>
          <a:xfrm>
            <a:off x="914400" y="37033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23"/>
          <p:cNvSpPr/>
          <p:nvPr/>
        </p:nvSpPr>
        <p:spPr>
          <a:xfrm>
            <a:off x="1463040" y="36118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① 참고 금액 제시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3" name="Text 24"/>
          <p:cNvSpPr/>
          <p:nvPr/>
        </p:nvSpPr>
        <p:spPr>
          <a:xfrm>
            <a:off x="777240" y="425196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조건이 충족되면 예산 상한 안에서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개인화된 금액과 근거를 함께 안내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4" name="out-1"/>
          <p:cNvSpPr/>
          <p:nvPr/>
        </p:nvSpPr>
        <p:spPr>
          <a:xfrm>
            <a:off x="4297680" y="3337560"/>
            <a:ext cx="3565800" cy="159984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5" name="Shape 26"/>
          <p:cNvSpPr/>
          <p:nvPr/>
        </p:nvSpPr>
        <p:spPr>
          <a:xfrm>
            <a:off x="4526280" y="3566160"/>
            <a:ext cx="548280" cy="54828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126" name="Image 12" descr="preencoded.png"/>
          <p:cNvPicPr/>
          <p:nvPr/>
        </p:nvPicPr>
        <p:blipFill>
          <a:blip r:embed="rId13"/>
          <a:stretch/>
        </p:blipFill>
        <p:spPr>
          <a:xfrm>
            <a:off x="4663440" y="37033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7"/>
          <p:cNvSpPr/>
          <p:nvPr/>
        </p:nvSpPr>
        <p:spPr>
          <a:xfrm>
            <a:off x="5212080" y="36118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accent3"/>
                </a:solidFill>
                <a:effectLst/>
                <a:uFillTx/>
                <a:latin typeface="Malgun Gothic"/>
              </a:rPr>
              <a:t>② 확인 질문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4526280" y="425196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지인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참석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예산 등 정보가 모자라면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추측하지 않고 차례로 되물음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9" name="out-2"/>
          <p:cNvSpPr/>
          <p:nvPr/>
        </p:nvSpPr>
        <p:spPr>
          <a:xfrm>
            <a:off x="8046720" y="3337560"/>
            <a:ext cx="3565800" cy="159984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0" name="Shape 30"/>
          <p:cNvSpPr/>
          <p:nvPr/>
        </p:nvSpPr>
        <p:spPr>
          <a:xfrm>
            <a:off x="8275320" y="3566160"/>
            <a:ext cx="548280" cy="54828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131" name="Image 13" descr="preencoded.png"/>
          <p:cNvPicPr/>
          <p:nvPr/>
        </p:nvPicPr>
        <p:blipFill>
          <a:blip r:embed="rId14"/>
          <a:stretch/>
        </p:blipFill>
        <p:spPr>
          <a:xfrm>
            <a:off x="8412480" y="37033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31"/>
          <p:cNvSpPr/>
          <p:nvPr/>
        </p:nvSpPr>
        <p:spPr>
          <a:xfrm>
            <a:off x="8961120" y="36118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accent4"/>
                </a:solidFill>
                <a:effectLst/>
                <a:uFillTx/>
                <a:latin typeface="Malgun Gothic"/>
              </a:rPr>
              <a:t>③ 금전 추천 보류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3" name="Text 32"/>
          <p:cNvSpPr/>
          <p:nvPr/>
        </p:nvSpPr>
        <p:spPr>
          <a:xfrm>
            <a:off x="8275320" y="425196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계약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심사 등 직무 위험이 의심되면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금액 대신 확인할 사항을 안내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4" name="Text 33"/>
          <p:cNvSpPr/>
          <p:nvPr/>
        </p:nvSpPr>
        <p:spPr>
          <a:xfrm>
            <a:off x="548640" y="5257800"/>
            <a:ext cx="3565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개인화  </a:t>
            </a:r>
            <a:r>
              <a:rPr lang="ko-KR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사회 평균 대신 내 지급</a:t>
            </a: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수령 이력</a:t>
            </a: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친밀도</a:t>
            </a: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예산을 반영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5" name="Text 34"/>
          <p:cNvSpPr/>
          <p:nvPr/>
        </p:nvSpPr>
        <p:spPr>
          <a:xfrm>
            <a:off x="4297680" y="5257800"/>
            <a:ext cx="3565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근거 공개  </a:t>
            </a:r>
            <a:r>
              <a:rPr lang="ko-KR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개인 기록과 공개 자료를 구분하고</a:t>
            </a: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불확실한 사실은 단정하지 않음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6" name="Text 35"/>
          <p:cNvSpPr/>
          <p:nvPr/>
        </p:nvSpPr>
        <p:spPr>
          <a:xfrm>
            <a:off x="8046720" y="5257800"/>
            <a:ext cx="3565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위험 우선  </a:t>
            </a: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“</a:t>
            </a: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5</a:t>
            </a:r>
            <a:r>
              <a:rPr lang="ko-KR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만 원 이하면 괜찮다”고 단정하지 않고 직무 관련성부터 확인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hasCustomPrompt="1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ⓑ 해결 방안 및 주요 기능 </a:t>
            </a: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(2/2)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실제로 동작하는 세 가지 핵심 기능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140" name="feat-0"/>
          <p:cNvSpPr/>
          <p:nvPr/>
        </p:nvSpPr>
        <p:spPr>
          <a:xfrm>
            <a:off x="548640" y="1645920"/>
            <a:ext cx="3565800" cy="4434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685800" y="1783080"/>
            <a:ext cx="3291480" cy="2057040"/>
          </a:xfrm>
          <a:prstGeom prst="rect">
            <a:avLst/>
          </a:prstGeom>
          <a:solidFill>
            <a:schemeClr val="bg1"/>
          </a:solidFill>
          <a:ln w="9525">
            <a:solidFill>
              <a:srgbClr val="E4D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142" name="Image 0" descr="① 마음결 AI 자유 상담 화면"/>
          <p:cNvPicPr/>
          <p:nvPr/>
        </p:nvPicPr>
        <p:blipFill>
          <a:blip r:embed="rId1"/>
          <a:stretch/>
        </p:blipFill>
        <p:spPr>
          <a:xfrm>
            <a:off x="685800" y="1887480"/>
            <a:ext cx="3291480" cy="184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5"/>
          <p:cNvSpPr/>
          <p:nvPr/>
        </p:nvSpPr>
        <p:spPr>
          <a:xfrm>
            <a:off x="731520" y="39776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① 마음결 </a:t>
            </a:r>
            <a:r>
              <a:rPr lang="en-US" sz="17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AI </a:t>
            </a:r>
            <a:r>
              <a:rPr lang="ko-KR" sz="17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자유 상담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731520" y="438912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지인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과거 거래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친밀도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식사 여부를 함께 보고 예산 안에서 금액과 이유를 제시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685800" y="5257800"/>
            <a:ext cx="3291480" cy="68544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822960" y="5276160"/>
            <a:ext cx="301716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“친구 결혼식</a:t>
            </a:r>
            <a:r>
              <a:rPr lang="en-US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식사함</a:t>
            </a:r>
            <a:r>
              <a:rPr lang="en-US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예산 </a:t>
            </a:r>
            <a:r>
              <a:rPr lang="en-US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30</a:t>
            </a:r>
            <a:r>
              <a:rPr lang="ko-KR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만 원” → 참고액 </a:t>
            </a:r>
            <a:r>
              <a:rPr lang="en-US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7</a:t>
            </a:r>
            <a:r>
              <a:rPr lang="ko-KR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만 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7" name="feat-1"/>
          <p:cNvSpPr/>
          <p:nvPr/>
        </p:nvSpPr>
        <p:spPr>
          <a:xfrm>
            <a:off x="4297680" y="1645920"/>
            <a:ext cx="3565800" cy="4434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4434840" y="1783080"/>
            <a:ext cx="3291480" cy="2057040"/>
          </a:xfrm>
          <a:prstGeom prst="rect">
            <a:avLst/>
          </a:prstGeom>
          <a:solidFill>
            <a:schemeClr val="bg1"/>
          </a:solidFill>
          <a:ln w="9525">
            <a:solidFill>
              <a:srgbClr val="E4D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149" name="Image 1" descr="② 관계 분석 · 법률 위험 검토 화면"/>
          <p:cNvPicPr/>
          <p:nvPr/>
        </p:nvPicPr>
        <p:blipFill>
          <a:blip r:embed="rId2"/>
          <a:stretch/>
        </p:blipFill>
        <p:spPr>
          <a:xfrm>
            <a:off x="4434840" y="2028600"/>
            <a:ext cx="3291480" cy="156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11"/>
          <p:cNvSpPr/>
          <p:nvPr/>
        </p:nvSpPr>
        <p:spPr>
          <a:xfrm>
            <a:off x="4480560" y="39776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4"/>
                </a:solidFill>
                <a:effectLst/>
                <a:uFillTx/>
                <a:latin typeface="Malgun Gothic"/>
              </a:rPr>
              <a:t>② 관계 분석 </a:t>
            </a:r>
            <a:r>
              <a:rPr lang="en-US" sz="1700" b="1" u="none" strike="noStrike">
                <a:solidFill>
                  <a:schemeClr val="accent4"/>
                </a:solidFill>
                <a:effectLst/>
                <a:uFillTx/>
                <a:latin typeface="Malgun Gothic"/>
              </a:rPr>
              <a:t>· </a:t>
            </a:r>
            <a:r>
              <a:rPr lang="ko-KR" sz="1700" b="1" u="none" strike="noStrike">
                <a:solidFill>
                  <a:schemeClr val="accent4"/>
                </a:solidFill>
                <a:effectLst/>
                <a:uFillTx/>
                <a:latin typeface="Malgun Gothic"/>
              </a:rPr>
              <a:t>법률 위험 검토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4480560" y="438912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주고받은 내역과 최근 변화를 비교하고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계약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심사 관계가 의심되면 금액 대신 확인할 사항을 안내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2" name="Shape 13"/>
          <p:cNvSpPr/>
          <p:nvPr/>
        </p:nvSpPr>
        <p:spPr>
          <a:xfrm>
            <a:off x="4434840" y="5257800"/>
            <a:ext cx="3291480" cy="68544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4572000" y="5276160"/>
            <a:ext cx="301716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“내가 심사하는 거래처의 부친상” → 금전 추천 보류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4" name="feat-2"/>
          <p:cNvSpPr/>
          <p:nvPr/>
        </p:nvSpPr>
        <p:spPr>
          <a:xfrm>
            <a:off x="8046720" y="1645920"/>
            <a:ext cx="3565800" cy="44344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5" name="Shape 16"/>
          <p:cNvSpPr/>
          <p:nvPr/>
        </p:nvSpPr>
        <p:spPr>
          <a:xfrm>
            <a:off x="8183880" y="1783080"/>
            <a:ext cx="3291480" cy="2057040"/>
          </a:xfrm>
          <a:prstGeom prst="rect">
            <a:avLst/>
          </a:prstGeom>
          <a:solidFill>
            <a:schemeClr val="bg1"/>
          </a:solidFill>
          <a:ln w="9525">
            <a:solidFill>
              <a:srgbClr val="E4DD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156" name="Image 2" descr="③ 경조사 공유 · 인맥 기반 추천 화면"/>
          <p:cNvPicPr/>
          <p:nvPr/>
        </p:nvPicPr>
        <p:blipFill>
          <a:blip r:embed="rId3"/>
          <a:stretch/>
        </p:blipFill>
        <p:spPr>
          <a:xfrm>
            <a:off x="8663400" y="1783080"/>
            <a:ext cx="233244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17"/>
          <p:cNvSpPr/>
          <p:nvPr/>
        </p:nvSpPr>
        <p:spPr>
          <a:xfrm>
            <a:off x="8229600" y="39776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accent5"/>
                </a:solidFill>
                <a:effectLst/>
                <a:uFillTx/>
                <a:latin typeface="Malgun Gothic"/>
              </a:rPr>
              <a:t>③ 경조사 공유 </a:t>
            </a:r>
            <a:r>
              <a:rPr lang="en-US" sz="1700" b="1" u="none" strike="noStrike">
                <a:solidFill>
                  <a:schemeClr val="accent5"/>
                </a:solidFill>
                <a:effectLst/>
                <a:uFillTx/>
                <a:latin typeface="Malgun Gothic"/>
              </a:rPr>
              <a:t>· </a:t>
            </a:r>
            <a:r>
              <a:rPr lang="ko-KR" sz="1700" b="1" u="none" strike="noStrike">
                <a:solidFill>
                  <a:schemeClr val="accent5"/>
                </a:solidFill>
                <a:effectLst/>
                <a:uFillTx/>
                <a:latin typeface="Malgun Gothic"/>
              </a:rPr>
              <a:t>인맥 기반 추천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8229600" y="438912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공유자가 정한 공개 범위와 참석 허용 조건에 맞춰 친구와 친구의 친구에게 소식 전달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9" name="Shape 19"/>
          <p:cNvSpPr/>
          <p:nvPr/>
        </p:nvSpPr>
        <p:spPr>
          <a:xfrm>
            <a:off x="8183880" y="5257800"/>
            <a:ext cx="3291480" cy="68544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8321040" y="5276160"/>
            <a:ext cx="301716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공통 친구를 거쳐</a:t>
            </a:r>
            <a:r>
              <a:rPr lang="en-US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직접 친구가 아닌 사용자에게도 소식 추천</a:t>
            </a:r>
            <a:r>
              <a:rPr lang="en-US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(2</a:t>
            </a:r>
            <a:r>
              <a:rPr lang="ko-KR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촌</a:t>
            </a:r>
            <a:r>
              <a:rPr lang="en-US" sz="1200" b="0" i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hasCustomPrompt="1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ⓒ 활용 </a:t>
            </a: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AI </a:t>
            </a:r>
            <a:r>
              <a:rPr lang="ko-KR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기술 및 직접 개발 범위 </a:t>
            </a: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(1/2)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판단은 직접 만든 엔진이</a:t>
            </a: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표현은 </a:t>
            </a: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LLM</a:t>
            </a: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이 맡습니다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164" name="pipe-0"/>
          <p:cNvSpPr/>
          <p:nvPr/>
        </p:nvSpPr>
        <p:spPr>
          <a:xfrm>
            <a:off x="548640" y="1645920"/>
            <a:ext cx="7863480" cy="7678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685800" y="1865520"/>
            <a:ext cx="685440" cy="3286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685800" y="186552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LLM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1508760" y="173736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질문 이해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1508760" y="2066400"/>
            <a:ext cx="1782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onsolas"/>
                <a:ea typeface="Consolas"/>
              </a:rPr>
              <a:t>ai.py · query_planner.py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3383280" y="171900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LLM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으로 의도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조건을 해석하고 대화 맥락을 유지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불분명한 지인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조건은 다시 질문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0" name="pipe-1"/>
          <p:cNvSpPr/>
          <p:nvPr/>
        </p:nvSpPr>
        <p:spPr>
          <a:xfrm>
            <a:off x="548640" y="2523600"/>
            <a:ext cx="7863480" cy="7678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1" name="Shape 10"/>
          <p:cNvSpPr/>
          <p:nvPr/>
        </p:nvSpPr>
        <p:spPr>
          <a:xfrm>
            <a:off x="685800" y="2743200"/>
            <a:ext cx="685440" cy="32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685800" y="274320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직접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1508760" y="261504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근거 검색 </a:t>
            </a: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(RAG)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1508760" y="2944440"/>
            <a:ext cx="1782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onsolas"/>
                <a:ea typeface="Consolas"/>
              </a:rPr>
              <a:t>knowledge.py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3383280" y="259704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한글 문자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2·3-gram TF-IDF +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코사인 유사도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+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행사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관계 가중치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(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벡터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DB·LangChain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미사용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6" name="pipe-2"/>
          <p:cNvSpPr/>
          <p:nvPr/>
        </p:nvSpPr>
        <p:spPr>
          <a:xfrm>
            <a:off x="548640" y="3401640"/>
            <a:ext cx="7863480" cy="7678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7" name="Shape 16"/>
          <p:cNvSpPr/>
          <p:nvPr/>
        </p:nvSpPr>
        <p:spPr>
          <a:xfrm>
            <a:off x="685800" y="3620880"/>
            <a:ext cx="685440" cy="32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685800" y="362088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직접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1508760" y="349308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위험 판단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1508760" y="3822120"/>
            <a:ext cx="1782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onsolas"/>
                <a:ea typeface="Consolas"/>
              </a:rPr>
              <a:t>legal_policy.py · special_cases.py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1" name="Text 20"/>
          <p:cNvSpPr/>
          <p:nvPr/>
        </p:nvSpPr>
        <p:spPr>
          <a:xfrm>
            <a:off x="3383280" y="347472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공직자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계약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직무 관련 조건을 분석해 추천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/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추가 확인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/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보류를 결정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2" name="pipe-3"/>
          <p:cNvSpPr/>
          <p:nvPr/>
        </p:nvSpPr>
        <p:spPr>
          <a:xfrm>
            <a:off x="548640" y="4279320"/>
            <a:ext cx="7863480" cy="7678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3" name="Shape 22"/>
          <p:cNvSpPr/>
          <p:nvPr/>
        </p:nvSpPr>
        <p:spPr>
          <a:xfrm>
            <a:off x="685800" y="4498920"/>
            <a:ext cx="685440" cy="3286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84" name="Text 23"/>
          <p:cNvSpPr/>
          <p:nvPr/>
        </p:nvSpPr>
        <p:spPr>
          <a:xfrm>
            <a:off x="685800" y="449892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직접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1508760" y="437076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금액 계산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1508760" y="4700160"/>
            <a:ext cx="1782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onsolas"/>
                <a:ea typeface="Consolas"/>
              </a:rPr>
              <a:t>recommender.py · relationship_analysis.py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7" name="Text 26"/>
          <p:cNvSpPr/>
          <p:nvPr/>
        </p:nvSpPr>
        <p:spPr>
          <a:xfrm>
            <a:off x="3383280" y="435240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지급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수령 거래와 관계를 반영하고 물가를 참고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1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만 원 단위 후보를 예산 상한으로 검증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8" name="pipe-4"/>
          <p:cNvSpPr/>
          <p:nvPr/>
        </p:nvSpPr>
        <p:spPr>
          <a:xfrm>
            <a:off x="548640" y="5157360"/>
            <a:ext cx="7863480" cy="7678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9" name="Shape 28"/>
          <p:cNvSpPr/>
          <p:nvPr/>
        </p:nvSpPr>
        <p:spPr>
          <a:xfrm>
            <a:off x="685800" y="5376600"/>
            <a:ext cx="685440" cy="3286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90" name="Text 29"/>
          <p:cNvSpPr/>
          <p:nvPr/>
        </p:nvSpPr>
        <p:spPr>
          <a:xfrm>
            <a:off x="685800" y="537660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LLM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1" name="Text 30"/>
          <p:cNvSpPr/>
          <p:nvPr/>
        </p:nvSpPr>
        <p:spPr>
          <a:xfrm>
            <a:off x="1508760" y="524880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최종 설명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2" name="Text 31"/>
          <p:cNvSpPr/>
          <p:nvPr/>
        </p:nvSpPr>
        <p:spPr>
          <a:xfrm>
            <a:off x="1508760" y="5577840"/>
            <a:ext cx="1782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onsolas"/>
                <a:ea typeface="Consolas"/>
              </a:rPr>
              <a:t>ai.py · llm.py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3" name="Text 32"/>
          <p:cNvSpPr/>
          <p:nvPr/>
        </p:nvSpPr>
        <p:spPr>
          <a:xfrm>
            <a:off x="3383280" y="5230440"/>
            <a:ext cx="4891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정책 결과와 금액은 그대로 두고 상담 문장으로 풀어 설명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응답 속 숫자 재검증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4" name="Shape 33"/>
          <p:cNvSpPr/>
          <p:nvPr/>
        </p:nvSpPr>
        <p:spPr>
          <a:xfrm>
            <a:off x="8641080" y="1645920"/>
            <a:ext cx="2998800" cy="4278960"/>
          </a:xfrm>
          <a:prstGeom prst="roundRect">
            <a:avLst>
              <a:gd name="adj" fmla="val 3659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95" name="Shape 34"/>
          <p:cNvSpPr/>
          <p:nvPr/>
        </p:nvSpPr>
        <p:spPr>
          <a:xfrm>
            <a:off x="8915400" y="1874520"/>
            <a:ext cx="594000" cy="59400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196" name="Image 0" descr="preencoded.png"/>
          <p:cNvPicPr/>
          <p:nvPr/>
        </p:nvPicPr>
        <p:blipFill>
          <a:blip r:embed="rId1"/>
          <a:stretch/>
        </p:blipFill>
        <p:spPr>
          <a:xfrm>
            <a:off x="9064080" y="202320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35"/>
          <p:cNvSpPr/>
          <p:nvPr/>
        </p:nvSpPr>
        <p:spPr>
          <a:xfrm>
            <a:off x="9646920" y="1938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안전 원칙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8" name="Text 36"/>
          <p:cNvSpPr/>
          <p:nvPr/>
        </p:nvSpPr>
        <p:spPr>
          <a:xfrm>
            <a:off x="8915400" y="2697480"/>
            <a:ext cx="24958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LLM</a:t>
            </a:r>
            <a:r>
              <a:rPr lang="ko-KR" sz="1300" b="0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이 정책 판단을 뒤집지 못하도록 결과를 검증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ko-KR" sz="1300" b="0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예산을 넘는 금액은 추천 후보에서 제외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ko-KR" sz="1300" b="0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모르는 법적 사실은 확정하지 않고 보류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ko-KR" sz="1300" b="0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모델 장애 시에도 법적 결론을 지어내지 않고 정책 기반으로 설명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9" name="Text 37"/>
          <p:cNvSpPr/>
          <p:nvPr/>
        </p:nvSpPr>
        <p:spPr>
          <a:xfrm>
            <a:off x="8915400" y="5257800"/>
            <a:ext cx="249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Malgun Gothic"/>
              </a:rPr>
              <a:t>※ 법률 자문이나 적법성 보증이 아닌 참고용 안내입니다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hasCustomPrompt="1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ⓒ 활용 </a:t>
            </a: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AI </a:t>
            </a:r>
            <a:r>
              <a:rPr lang="ko-KR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기술 및 직접 개발 범위 </a:t>
            </a: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(2/2)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대체 모델과 시간 제한으로 </a:t>
            </a: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LLM </a:t>
            </a: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호출을 안정화했습니다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548640" y="1600200"/>
            <a:ext cx="6034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Codyssey API · OpenAI </a:t>
            </a:r>
            <a:r>
              <a:rPr lang="ko-KR" sz="1400" b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호환 </a:t>
            </a: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/chat/completions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548640" y="2057400"/>
            <a:ext cx="118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의도 분류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1783080" y="2057400"/>
            <a:ext cx="2102760" cy="77688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1874520" y="205740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chemeClr val="accent6"/>
                </a:solidFill>
                <a:effectLst/>
                <a:uFillTx/>
                <a:latin typeface="Malgun Gothic"/>
              </a:rPr>
              <a:t>주 모델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gpt-5.4-mini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3931920" y="216720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실패 시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208" name="Image 0" descr="preencoded.png"/>
          <p:cNvPicPr/>
          <p:nvPr/>
        </p:nvPicPr>
        <p:blipFill>
          <a:blip r:embed="rId1"/>
          <a:stretch/>
        </p:blipFill>
        <p:spPr>
          <a:xfrm>
            <a:off x="4096440" y="24231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Shape 8"/>
          <p:cNvSpPr/>
          <p:nvPr/>
        </p:nvSpPr>
        <p:spPr>
          <a:xfrm>
            <a:off x="4526280" y="2057400"/>
            <a:ext cx="2102760" cy="7768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4617720" y="205740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보조 모델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gemini-3.1-flash-lite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548640" y="3063240"/>
            <a:ext cx="118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답변 생성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2" name="Shape 11"/>
          <p:cNvSpPr/>
          <p:nvPr/>
        </p:nvSpPr>
        <p:spPr>
          <a:xfrm>
            <a:off x="1783080" y="3063240"/>
            <a:ext cx="2102760" cy="77688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1874520" y="30632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chemeClr val="accent6"/>
                </a:solidFill>
                <a:effectLst/>
                <a:uFillTx/>
                <a:latin typeface="Malgun Gothic"/>
              </a:rPr>
              <a:t>주 모델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lt1"/>
                </a:solidFill>
                <a:effectLst/>
                <a:uFillTx/>
                <a:latin typeface="Malgun Gothic"/>
              </a:rPr>
              <a:t>claude-opus-4-8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3931920" y="317304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실패 시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215" name="Image 1" descr="preencoded.png"/>
          <p:cNvPicPr/>
          <p:nvPr/>
        </p:nvPicPr>
        <p:blipFill>
          <a:blip r:embed="rId2"/>
          <a:stretch/>
        </p:blipFill>
        <p:spPr>
          <a:xfrm>
            <a:off x="4096440" y="34290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Shape 14"/>
          <p:cNvSpPr/>
          <p:nvPr/>
        </p:nvSpPr>
        <p:spPr>
          <a:xfrm>
            <a:off x="4526280" y="3063240"/>
            <a:ext cx="2102760" cy="7768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4617720" y="30632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보조 모델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gpt-5.4-mini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548640" y="420624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30</a:t>
            </a:r>
            <a:r>
              <a:rPr lang="ko-KR" sz="40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초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2286000" y="4206240"/>
            <a:ext cx="4343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요청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1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회의 전체 시간 예산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주 모델 최대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20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초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+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보조 모델 최대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10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0" name="Text 18"/>
          <p:cNvSpPr/>
          <p:nvPr/>
        </p:nvSpPr>
        <p:spPr>
          <a:xfrm>
            <a:off x="548640" y="5166360"/>
            <a:ext cx="6080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OpenAI API(gpt-4.1-mini)</a:t>
            </a:r>
            <a:r>
              <a:rPr lang="ko-KR" sz="13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는 사용자가 명시적으로 동의한 경우에만 관계 분석 설명에 사용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1" name="own"/>
          <p:cNvSpPr/>
          <p:nvPr/>
        </p:nvSpPr>
        <p:spPr>
          <a:xfrm>
            <a:off x="7086600" y="1600200"/>
            <a:ext cx="4553280" cy="2514240"/>
          </a:xfrm>
          <a:prstGeom prst="roundRect">
            <a:avLst>
              <a:gd name="adj" fmla="val 4364"/>
            </a:avLst>
          </a:prstGeom>
          <a:solidFill>
            <a:srgbClr val="FBE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7360920" y="175572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직접 개발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7360920" y="2212920"/>
            <a:ext cx="4096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A44"/>
              </a:buClr>
              <a:buFont typeface="Symbol" charset="2"/>
              <a:buChar char=""/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개인화 금액 추천 엔진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법률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직무 정책 검사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A44"/>
              </a:buClr>
              <a:buFont typeface="Symbol" charset="2"/>
              <a:buChar char=""/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한글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n-gram RAG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검색기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A44"/>
              </a:buClr>
              <a:buFont typeface="Symbol" charset="2"/>
              <a:buChar char=""/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인맥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장부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일정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공유 경조사 처리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A44"/>
              </a:buClr>
              <a:buFont typeface="Symbol" charset="2"/>
              <a:buChar char=""/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대화 상태 관리와 응답 검증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React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화면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A44"/>
              </a:buClr>
              <a:buFont typeface="Symbol" charset="2"/>
              <a:buChar char=""/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합성 시연 데이터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테스트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4" name="ext"/>
          <p:cNvSpPr/>
          <p:nvPr/>
        </p:nvSpPr>
        <p:spPr>
          <a:xfrm>
            <a:off x="7086600" y="4297680"/>
            <a:ext cx="4553280" cy="159984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5" name="Text 23"/>
          <p:cNvSpPr/>
          <p:nvPr/>
        </p:nvSpPr>
        <p:spPr>
          <a:xfrm>
            <a:off x="7360920" y="445320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외부 활용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6" name="Text 24"/>
          <p:cNvSpPr/>
          <p:nvPr/>
        </p:nvSpPr>
        <p:spPr>
          <a:xfrm>
            <a:off x="7360920" y="4910400"/>
            <a:ext cx="4096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A44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Claude · GPT · Gemini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모델 추론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F2A44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FastAPI · Pydantic · httpx · React · Vite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등 오픈소스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hasCustomPrompt="1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ⓓ 개발 환경 및 기술 스택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가볍고 검증 가능한 스택으로 해커톤 기간 안에 통합했습니다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30" name="stack-0"/>
          <p:cNvSpPr/>
          <p:nvPr/>
        </p:nvSpPr>
        <p:spPr>
          <a:xfrm>
            <a:off x="548640" y="1691640"/>
            <a:ext cx="2651400" cy="2057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777240" y="1920240"/>
            <a:ext cx="594000" cy="594000"/>
          </a:xfrm>
          <a:prstGeom prst="ellipse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32" name="Image 0" descr="preencoded.png"/>
          <p:cNvPicPr/>
          <p:nvPr/>
        </p:nvPicPr>
        <p:blipFill>
          <a:blip r:embed="rId1"/>
          <a:stretch/>
        </p:blipFill>
        <p:spPr>
          <a:xfrm>
            <a:off x="925920" y="206892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5"/>
          <p:cNvSpPr/>
          <p:nvPr/>
        </p:nvSpPr>
        <p:spPr>
          <a:xfrm>
            <a:off x="1508760" y="196596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백엔드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777240" y="269748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Python 3.12 · FastAPI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Pydantic v2 · Uvicorn · httpx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5" name="stack-1"/>
          <p:cNvSpPr/>
          <p:nvPr/>
        </p:nvSpPr>
        <p:spPr>
          <a:xfrm>
            <a:off x="3383280" y="1691640"/>
            <a:ext cx="2651400" cy="2057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6" name="Shape 8"/>
          <p:cNvSpPr/>
          <p:nvPr/>
        </p:nvSpPr>
        <p:spPr>
          <a:xfrm>
            <a:off x="3611880" y="1920240"/>
            <a:ext cx="594000" cy="594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37" name="Image 1" descr="preencoded.png"/>
          <p:cNvPicPr/>
          <p:nvPr/>
        </p:nvPicPr>
        <p:blipFill>
          <a:blip r:embed="rId2"/>
          <a:stretch/>
        </p:blipFill>
        <p:spPr>
          <a:xfrm>
            <a:off x="3760560" y="206892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9"/>
          <p:cNvSpPr/>
          <p:nvPr/>
        </p:nvSpPr>
        <p:spPr>
          <a:xfrm>
            <a:off x="4343400" y="196596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프런트엔드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3611880" y="269748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React 19 · JavaScript (ESM)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Vite 6 · pnpm 11 · Node 22+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0" name="stack-2"/>
          <p:cNvSpPr/>
          <p:nvPr/>
        </p:nvSpPr>
        <p:spPr>
          <a:xfrm>
            <a:off x="6217920" y="1691640"/>
            <a:ext cx="2651400" cy="2057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1" name="Shape 12"/>
          <p:cNvSpPr/>
          <p:nvPr/>
        </p:nvSpPr>
        <p:spPr>
          <a:xfrm>
            <a:off x="6446520" y="1920240"/>
            <a:ext cx="594000" cy="594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242" name="Image 2" descr="preencoded.png"/>
          <p:cNvPicPr/>
          <p:nvPr/>
        </p:nvPicPr>
        <p:blipFill>
          <a:blip r:embed="rId3"/>
          <a:stretch/>
        </p:blipFill>
        <p:spPr>
          <a:xfrm>
            <a:off x="6595200" y="206892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 13"/>
          <p:cNvSpPr/>
          <p:nvPr/>
        </p:nvSpPr>
        <p:spPr>
          <a:xfrm>
            <a:off x="7178040" y="196596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데이터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6446520" y="269748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SQLite: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계정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대화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인맥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장부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일정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공유 소식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통합 시드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5" name="stack-3"/>
          <p:cNvSpPr/>
          <p:nvPr/>
        </p:nvSpPr>
        <p:spPr>
          <a:xfrm>
            <a:off x="9052560" y="1691640"/>
            <a:ext cx="2651400" cy="2057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6" name="Shape 16"/>
          <p:cNvSpPr/>
          <p:nvPr/>
        </p:nvSpPr>
        <p:spPr>
          <a:xfrm>
            <a:off x="9281160" y="1920240"/>
            <a:ext cx="594000" cy="59400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47" name="Image 3" descr="preencoded.png"/>
          <p:cNvPicPr/>
          <p:nvPr/>
        </p:nvPicPr>
        <p:blipFill>
          <a:blip r:embed="rId4"/>
          <a:stretch/>
        </p:blipFill>
        <p:spPr>
          <a:xfrm>
            <a:off x="9429840" y="206892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17"/>
          <p:cNvSpPr/>
          <p:nvPr/>
        </p:nvSpPr>
        <p:spPr>
          <a:xfrm>
            <a:off x="10012680" y="196596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AI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9" name="Text 18"/>
          <p:cNvSpPr/>
          <p:nvPr/>
        </p:nvSpPr>
        <p:spPr>
          <a:xfrm>
            <a:off x="9281160" y="269748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Codyssey LLM 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자체 한글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n-gram TF-IDF RAG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0" name="stack-4"/>
          <p:cNvSpPr/>
          <p:nvPr/>
        </p:nvSpPr>
        <p:spPr>
          <a:xfrm>
            <a:off x="548640" y="3977640"/>
            <a:ext cx="2651400" cy="2057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1" name="Shape 20"/>
          <p:cNvSpPr/>
          <p:nvPr/>
        </p:nvSpPr>
        <p:spPr>
          <a:xfrm>
            <a:off x="777240" y="4206240"/>
            <a:ext cx="594000" cy="59400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52" name="Image 4" descr="preencoded.png"/>
          <p:cNvPicPr/>
          <p:nvPr/>
        </p:nvPicPr>
        <p:blipFill>
          <a:blip r:embed="rId5"/>
          <a:stretch/>
        </p:blipFill>
        <p:spPr>
          <a:xfrm>
            <a:off x="925920" y="435492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21"/>
          <p:cNvSpPr/>
          <p:nvPr/>
        </p:nvSpPr>
        <p:spPr>
          <a:xfrm>
            <a:off x="1508760" y="425196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테스트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4" name="Text 22"/>
          <p:cNvSpPr/>
          <p:nvPr/>
        </p:nvSpPr>
        <p:spPr>
          <a:xfrm>
            <a:off x="777240" y="498348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pytest · unittest · node:test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Python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테스트 통과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React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테스트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빌드 통과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5" name="stack-5"/>
          <p:cNvSpPr/>
          <p:nvPr/>
        </p:nvSpPr>
        <p:spPr>
          <a:xfrm>
            <a:off x="3383280" y="3977640"/>
            <a:ext cx="2651400" cy="2057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6" name="Shape 24"/>
          <p:cNvSpPr/>
          <p:nvPr/>
        </p:nvSpPr>
        <p:spPr>
          <a:xfrm>
            <a:off x="3611880" y="4206240"/>
            <a:ext cx="594000" cy="594000"/>
          </a:xfrm>
          <a:prstGeom prst="ellipse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57" name="Image 5" descr="preencoded.png"/>
          <p:cNvPicPr/>
          <p:nvPr/>
        </p:nvPicPr>
        <p:blipFill>
          <a:blip r:embed="rId6"/>
          <a:stretch/>
        </p:blipFill>
        <p:spPr>
          <a:xfrm>
            <a:off x="3760560" y="435492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25"/>
          <p:cNvSpPr/>
          <p:nvPr/>
        </p:nvSpPr>
        <p:spPr>
          <a:xfrm>
            <a:off x="4343400" y="425196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협업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 CI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9" name="Text 26"/>
          <p:cNvSpPr/>
          <p:nvPr/>
        </p:nvSpPr>
        <p:spPr>
          <a:xfrm>
            <a:off x="3611880" y="498348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GitHub develop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기반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PR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리뷰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GitHub Actions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통합 검사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0" name="stack-6"/>
          <p:cNvSpPr/>
          <p:nvPr/>
        </p:nvSpPr>
        <p:spPr>
          <a:xfrm>
            <a:off x="6217920" y="3977640"/>
            <a:ext cx="2651400" cy="2057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1" name="Shape 28"/>
          <p:cNvSpPr/>
          <p:nvPr/>
        </p:nvSpPr>
        <p:spPr>
          <a:xfrm>
            <a:off x="6446520" y="4206240"/>
            <a:ext cx="594000" cy="594000"/>
          </a:xfrm>
          <a:prstGeom prst="ellipse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62" name="Image 6" descr="preencoded.png"/>
          <p:cNvPicPr/>
          <p:nvPr/>
        </p:nvPicPr>
        <p:blipFill>
          <a:blip r:embed="rId7"/>
          <a:stretch/>
        </p:blipFill>
        <p:spPr>
          <a:xfrm>
            <a:off x="6595200" y="435492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29"/>
          <p:cNvSpPr/>
          <p:nvPr/>
        </p:nvSpPr>
        <p:spPr>
          <a:xfrm>
            <a:off x="7178040" y="425196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실행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 </a:t>
            </a: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배포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4" name="Text 30"/>
          <p:cNvSpPr/>
          <p:nvPr/>
        </p:nvSpPr>
        <p:spPr>
          <a:xfrm>
            <a:off x="6446520" y="498348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Windows/macOS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원클릭 실행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Ncloud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서버에 백엔드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API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배포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5" name="stack-7"/>
          <p:cNvSpPr/>
          <p:nvPr/>
        </p:nvSpPr>
        <p:spPr>
          <a:xfrm>
            <a:off x="9052560" y="3977640"/>
            <a:ext cx="2651400" cy="2057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6" name="Shape 32"/>
          <p:cNvSpPr/>
          <p:nvPr/>
        </p:nvSpPr>
        <p:spPr>
          <a:xfrm>
            <a:off x="9281160" y="4206240"/>
            <a:ext cx="594000" cy="594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67" name="Image 7" descr="preencoded.png"/>
          <p:cNvPicPr/>
          <p:nvPr/>
        </p:nvPicPr>
        <p:blipFill>
          <a:blip r:embed="rId8"/>
          <a:stretch/>
        </p:blipFill>
        <p:spPr>
          <a:xfrm>
            <a:off x="9429840" y="4354920"/>
            <a:ext cx="297000" cy="2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 33"/>
          <p:cNvSpPr/>
          <p:nvPr/>
        </p:nvSpPr>
        <p:spPr>
          <a:xfrm>
            <a:off x="10012680" y="425196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팀 소통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9" name="Text 34"/>
          <p:cNvSpPr/>
          <p:nvPr/>
        </p:nvSpPr>
        <p:spPr>
          <a:xfrm>
            <a:off x="9281160" y="498348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Discord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Google Meet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0"/>
          <p:cNvSpPr/>
          <p:nvPr/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hasCustomPrompt="1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ⓕ 외부 자원 활용 내역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사용한 외부 자원을 빠짐없이 기재했습니다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graphicFrame>
        <p:nvGraphicFramePr>
          <p:cNvPr id="273" name="Table 0"/>
          <p:cNvGraphicFramePr/>
          <p:nvPr/>
        </p:nvGraphicFramePr>
        <p:xfrm>
          <a:off x="548640" y="1463040"/>
          <a:ext cx="11091240" cy="470412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  <a:gridCol w="3410640"/>
                <a:gridCol w="2194560"/>
              </a:tblGrid>
              <a:tr h="223920">
                <a:tc>
                  <a:txBody>
                    <a:bodyPr lIns="73080" tIns="0" rIns="7308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Malgun Gothic"/>
                        </a:rPr>
                        <a:t>구분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Malgun Gothic"/>
                        </a:rPr>
                        <a:t>명칭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Malgun Gothic"/>
                        </a:rPr>
                        <a:t>용도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Malgun Gothic"/>
                        </a:rPr>
                        <a:t>라이선스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</a:tr>
              <a:tr h="223920">
                <a:tc rowSpan="13">
                  <a:txBody>
                    <a:bodyPr lIns="73080" tIns="0" rIns="7308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오픈소스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Python 3.12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백엔드 개발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실행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PSF License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FastAPI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백엔드 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API 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서버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MIT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Pydantic v2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요청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응답 데이터 검증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MIT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Uvicorn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ASGI 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서버 실행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BSD-3-Clause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httpx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LLM API HTTP 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호출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BSD-3-Clause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python-dotenv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환경 설정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(.env) 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로드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BSD-3-Clause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pytest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백엔드 회귀 테스트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MIT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OpenAI Python SDK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OpenAI API 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호출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Apache 2.0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React 19 · React DOM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사용자 인터페이스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MIT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Vite 6 · @vitejs/plugin-react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프런트엔드 개발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빌드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MIT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lucide-react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UI 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아이콘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ISC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SQLite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로컬 서버 데이터베이스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Public Domain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pnpm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프런트엔드 패키지 관리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MIT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rowSpan="4">
                  <a:txBody>
                    <a:bodyPr lIns="73080" tIns="0" rIns="7308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외부 </a:t>
                      </a: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API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Codyssey API — Claude Opus 4.8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상담 답변 생성 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(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주 모델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상용 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API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Codyssey API — GPT-5.4-mini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의도 분류 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· 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답변 대체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상용 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API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Codyssey API — Gemini 3.1 Flash-Lite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의도 분류 대체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상용 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API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OpenAI API — GPT-4.1-mini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관계 분석 설명 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(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사용자 동의 시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상용 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API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>
                  <a:txBody>
                    <a:bodyPr lIns="73080" tIns="0" rIns="7308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사전 보유 코드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해당 없음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/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/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Malgun Gothic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rowSpan="2">
                  <a:txBody>
                    <a:bodyPr lIns="73080" tIns="0" rIns="7308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기타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청탁금지법 등 공개 법령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공공 자료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RAG 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근거 문서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출처 표기 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(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공공저작물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  <a:tr h="2239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ChatGPT · Codex · Claude Code · Gemini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설계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코드 작성</a:t>
                      </a: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·</a:t>
                      </a: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검토 보조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ko-K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Malgun Gothic"/>
                        </a:rPr>
                        <a:t>상용 서비스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나눔고딕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E4DDD5"/>
                      </a:solidFill>
                      <a:prstDash val="solid"/>
                    </a:lnL>
                    <a:lnR w="6480">
                      <a:solidFill>
                        <a:srgbClr val="E4DDD5"/>
                      </a:solidFill>
                      <a:prstDash val="solid"/>
                    </a:lnR>
                    <a:lnT w="6480">
                      <a:solidFill>
                        <a:srgbClr val="E4DDD5"/>
                      </a:solidFill>
                      <a:prstDash val="solid"/>
                    </a:lnT>
                    <a:lnB w="6480">
                      <a:solidFill>
                        <a:srgbClr val="E4DDD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hasCustomPrompt="1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ⓖ 기대 효과 및 확장 가능성 </a:t>
            </a: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(1/2)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답을 강요하지 않고</a:t>
            </a: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3000" b="1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선택의 이유를 보여 줍니다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77" name="eff-0"/>
          <p:cNvSpPr/>
          <p:nvPr/>
        </p:nvSpPr>
        <p:spPr>
          <a:xfrm>
            <a:off x="548640" y="1645920"/>
            <a:ext cx="2678760" cy="20113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8" name="Shape 4"/>
          <p:cNvSpPr/>
          <p:nvPr/>
        </p:nvSpPr>
        <p:spPr>
          <a:xfrm>
            <a:off x="777240" y="1828800"/>
            <a:ext cx="548280" cy="548280"/>
          </a:xfrm>
          <a:prstGeom prst="ellipse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79" name="Image 0" descr="preencoded.png"/>
          <p:cNvPicPr/>
          <p:nvPr/>
        </p:nvPicPr>
        <p:blipFill>
          <a:blip r:embed="rId1"/>
          <a:stretch/>
        </p:blipFill>
        <p:spPr>
          <a:xfrm>
            <a:off x="914400" y="19659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5"/>
          <p:cNvSpPr/>
          <p:nvPr/>
        </p:nvSpPr>
        <p:spPr>
          <a:xfrm>
            <a:off x="1463040" y="1874520"/>
            <a:ext cx="167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accent5"/>
                </a:solidFill>
                <a:effectLst/>
                <a:uFillTx/>
                <a:latin typeface="Malgun Gothic"/>
              </a:rPr>
              <a:t>개인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777240" y="2514600"/>
            <a:ext cx="2267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주고받은 금액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친밀도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참석 여부를 근거로 고민을 줄이고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예산은 넘기지 않음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2" name="eff-1"/>
          <p:cNvSpPr/>
          <p:nvPr/>
        </p:nvSpPr>
        <p:spPr>
          <a:xfrm>
            <a:off x="3355920" y="1645920"/>
            <a:ext cx="2678760" cy="20113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3" name="Shape 8"/>
          <p:cNvSpPr/>
          <p:nvPr/>
        </p:nvSpPr>
        <p:spPr>
          <a:xfrm>
            <a:off x="3584520" y="1828800"/>
            <a:ext cx="548280" cy="548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84" name="Image 1" descr="preencoded.png"/>
          <p:cNvPicPr/>
          <p:nvPr/>
        </p:nvPicPr>
        <p:blipFill>
          <a:blip r:embed="rId2"/>
          <a:stretch/>
        </p:blipFill>
        <p:spPr>
          <a:xfrm>
            <a:off x="3721680" y="19659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 9"/>
          <p:cNvSpPr/>
          <p:nvPr/>
        </p:nvSpPr>
        <p:spPr>
          <a:xfrm>
            <a:off x="4270320" y="1874520"/>
            <a:ext cx="167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관계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6" name="Text 10"/>
          <p:cNvSpPr/>
          <p:nvPr/>
        </p:nvSpPr>
        <p:spPr>
          <a:xfrm>
            <a:off x="3584520" y="2514600"/>
            <a:ext cx="2267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금전적 불균형과 최근 변화는 보여 주되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,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상대의 진심이나 보답 의무는 단정하지 않음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7" name="eff-2"/>
          <p:cNvSpPr/>
          <p:nvPr/>
        </p:nvSpPr>
        <p:spPr>
          <a:xfrm>
            <a:off x="6163200" y="1645920"/>
            <a:ext cx="2678760" cy="20113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8" name="Shape 12"/>
          <p:cNvSpPr/>
          <p:nvPr/>
        </p:nvSpPr>
        <p:spPr>
          <a:xfrm>
            <a:off x="6391800" y="1828800"/>
            <a:ext cx="548280" cy="54828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89" name="Image 2" descr="preencoded.png"/>
          <p:cNvPicPr/>
          <p:nvPr/>
        </p:nvPicPr>
        <p:blipFill>
          <a:blip r:embed="rId3"/>
          <a:stretch/>
        </p:blipFill>
        <p:spPr>
          <a:xfrm>
            <a:off x="6528960" y="19659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13"/>
          <p:cNvSpPr/>
          <p:nvPr/>
        </p:nvSpPr>
        <p:spPr>
          <a:xfrm>
            <a:off x="7077600" y="1874520"/>
            <a:ext cx="167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accent4"/>
                </a:solidFill>
                <a:effectLst/>
                <a:uFillTx/>
                <a:latin typeface="Malgun Gothic"/>
              </a:rPr>
              <a:t>위험 예방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6391800" y="2514600"/>
            <a:ext cx="2267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계약 심사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직무 관련성 단서를 미리 찾아 송금 전에 확인할 사항을 안내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2" name="eff-3"/>
          <p:cNvSpPr/>
          <p:nvPr/>
        </p:nvSpPr>
        <p:spPr>
          <a:xfrm>
            <a:off x="8970120" y="1645920"/>
            <a:ext cx="2678760" cy="20113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3" name="Shape 16"/>
          <p:cNvSpPr/>
          <p:nvPr/>
        </p:nvSpPr>
        <p:spPr>
          <a:xfrm>
            <a:off x="9198720" y="182880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294" name="Image 3" descr="preencoded.png"/>
          <p:cNvPicPr/>
          <p:nvPr/>
        </p:nvPicPr>
        <p:blipFill>
          <a:blip r:embed="rId4"/>
          <a:stretch/>
        </p:blipFill>
        <p:spPr>
          <a:xfrm>
            <a:off x="9335880" y="19659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 17"/>
          <p:cNvSpPr/>
          <p:nvPr/>
        </p:nvSpPr>
        <p:spPr>
          <a:xfrm>
            <a:off x="9884520" y="1874520"/>
            <a:ext cx="167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신뢰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6" name="Text 18"/>
          <p:cNvSpPr/>
          <p:nvPr/>
        </p:nvSpPr>
        <p:spPr>
          <a:xfrm>
            <a:off x="9198720" y="2514600"/>
            <a:ext cx="2267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공개 자료와 개인 기록을 분리해 근거 없는 단정과 잘못된 법률 판단을 줄임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7" name="Text 19"/>
          <p:cNvSpPr/>
          <p:nvPr/>
        </p:nvSpPr>
        <p:spPr>
          <a:xfrm>
            <a:off x="548640" y="38862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일반적인 답변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8" name="Text 20"/>
          <p:cNvSpPr/>
          <p:nvPr/>
        </p:nvSpPr>
        <p:spPr>
          <a:xfrm>
            <a:off x="5989320" y="3886200"/>
            <a:ext cx="5650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마음결의 응답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9" name="Shape 21"/>
          <p:cNvSpPr/>
          <p:nvPr/>
        </p:nvSpPr>
        <p:spPr>
          <a:xfrm>
            <a:off x="548640" y="4343400"/>
            <a:ext cx="4754520" cy="7768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0" name="Text 22"/>
          <p:cNvSpPr/>
          <p:nvPr/>
        </p:nvSpPr>
        <p:spPr>
          <a:xfrm>
            <a:off x="731520" y="4343400"/>
            <a:ext cx="4388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“결혼식이면 보통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5</a:t>
            </a: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만 원입니다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.”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301" name="Image 4" descr="preencoded.png"/>
          <p:cNvPicPr/>
          <p:nvPr/>
        </p:nvPicPr>
        <p:blipFill>
          <a:blip r:embed="rId5"/>
          <a:stretch/>
        </p:blipFill>
        <p:spPr>
          <a:xfrm>
            <a:off x="5513760" y="4617720"/>
            <a:ext cx="246600" cy="2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Shape 23"/>
          <p:cNvSpPr/>
          <p:nvPr/>
        </p:nvSpPr>
        <p:spPr>
          <a:xfrm>
            <a:off x="5989320" y="4343400"/>
            <a:ext cx="5650560" cy="776880"/>
          </a:xfrm>
          <a:prstGeom prst="roundRect">
            <a:avLst>
              <a:gd name="adj" fmla="val 11765"/>
            </a:avLst>
          </a:prstGeom>
          <a:solidFill>
            <a:srgbClr val="FBE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3" name="Text 24"/>
          <p:cNvSpPr/>
          <p:nvPr/>
        </p:nvSpPr>
        <p:spPr>
          <a:xfrm>
            <a:off x="6172200" y="4343400"/>
            <a:ext cx="5303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“예산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30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만 원은 상한일 뿐이에요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친밀도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주고받은 기록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·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식사 여부를 반영해 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7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만 원을 참고액으로 드려요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4" name="Shape 25"/>
          <p:cNvSpPr/>
          <p:nvPr/>
        </p:nvSpPr>
        <p:spPr>
          <a:xfrm>
            <a:off x="548640" y="5257800"/>
            <a:ext cx="4754520" cy="77688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5" name="Text 26"/>
          <p:cNvSpPr/>
          <p:nvPr/>
        </p:nvSpPr>
        <p:spPr>
          <a:xfrm>
            <a:off x="731520" y="5257800"/>
            <a:ext cx="4388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“장례식이면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5</a:t>
            </a:r>
            <a:r>
              <a:rPr lang="ko-KR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만 원을 보내세요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Malgun Gothic"/>
              </a:rPr>
              <a:t>.”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306" name="Image 5" descr="preencoded.png"/>
          <p:cNvPicPr/>
          <p:nvPr/>
        </p:nvPicPr>
        <p:blipFill>
          <a:blip r:embed="rId6"/>
          <a:stretch/>
        </p:blipFill>
        <p:spPr>
          <a:xfrm>
            <a:off x="5513760" y="5532120"/>
            <a:ext cx="246600" cy="2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Shape 27"/>
          <p:cNvSpPr/>
          <p:nvPr/>
        </p:nvSpPr>
        <p:spPr>
          <a:xfrm>
            <a:off x="5989320" y="5257800"/>
            <a:ext cx="5650560" cy="776880"/>
          </a:xfrm>
          <a:prstGeom prst="roundRect">
            <a:avLst>
              <a:gd name="adj" fmla="val 11765"/>
            </a:avLst>
          </a:prstGeom>
          <a:solidFill>
            <a:srgbClr val="FBE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8" name="Text 28"/>
          <p:cNvSpPr/>
          <p:nvPr/>
        </p:nvSpPr>
        <p:spPr>
          <a:xfrm>
            <a:off x="6172200" y="5257800"/>
            <a:ext cx="5303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“계약 심사 관계가 있어 금액 제안을 보류합니다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 </a:t>
            </a:r>
            <a:r>
              <a:rPr lang="ko-KR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직무 관련성과 기관 규정을 먼저 확인해 주세요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0"/>
          <p:cNvSpPr/>
          <p:nvPr/>
        </p:nvSpPr>
        <p:spPr>
          <a:xfrm>
            <a:off x="1118304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hasCustomPrompt="1"/>
          </p:nvPr>
        </p:nvSpPr>
        <p:spPr>
          <a:xfrm>
            <a:off x="548640" y="347400"/>
            <a:ext cx="822924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ⓖ 기대 효과 및 확장 가능성 </a:t>
            </a: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(2/2)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658440"/>
            <a:ext cx="11063880" cy="65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3000" b="1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해커톤의 한계</a:t>
            </a:r>
            <a:r>
              <a:rPr lang="en-US" sz="3000" b="1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, </a:t>
            </a:r>
            <a:r>
              <a:rPr lang="ko-KR" sz="3000" b="1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그리고 다음 단계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312" name="Text 3"/>
          <p:cNvSpPr/>
          <p:nvPr/>
        </p:nvSpPr>
        <p:spPr>
          <a:xfrm>
            <a:off x="548640" y="1554480"/>
            <a:ext cx="5257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2</a:t>
            </a:r>
            <a:r>
              <a:rPr lang="ko-KR" sz="15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박 </a:t>
            </a: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3</a:t>
            </a:r>
            <a:r>
              <a:rPr lang="ko-KR" sz="15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일 동안 다 하지 못한 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3" name="Text 4"/>
          <p:cNvSpPr/>
          <p:nvPr/>
        </p:nvSpPr>
        <p:spPr>
          <a:xfrm>
            <a:off x="6355080" y="1554480"/>
            <a:ext cx="5284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다음 단계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4" name="Shape 5"/>
          <p:cNvSpPr/>
          <p:nvPr/>
        </p:nvSpPr>
        <p:spPr>
          <a:xfrm>
            <a:off x="548640" y="2011680"/>
            <a:ext cx="5257440" cy="658080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5" name="Shape 6"/>
          <p:cNvSpPr/>
          <p:nvPr/>
        </p:nvSpPr>
        <p:spPr>
          <a:xfrm>
            <a:off x="685800" y="211212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316" name="Image 0" descr="preencoded.png"/>
          <p:cNvPicPr/>
          <p:nvPr/>
        </p:nvPicPr>
        <p:blipFill>
          <a:blip r:embed="rId1"/>
          <a:stretch/>
        </p:blipFill>
        <p:spPr>
          <a:xfrm>
            <a:off x="800280" y="22266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Text 7"/>
          <p:cNvSpPr/>
          <p:nvPr/>
        </p:nvSpPr>
        <p:spPr>
          <a:xfrm>
            <a:off x="1280160" y="2066400"/>
            <a:ext cx="443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시연용 로그인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실제 인증</a:t>
            </a:r>
            <a:r>
              <a:rPr lang="en-US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·</a:t>
            </a: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권한 관리 없이 시연용 세션으로 동작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318" name="Image 1" descr="preencoded.png"/>
          <p:cNvPicPr/>
          <p:nvPr/>
        </p:nvPicPr>
        <p:blipFill>
          <a:blip r:embed="rId2"/>
          <a:stretch/>
        </p:blipFill>
        <p:spPr>
          <a:xfrm>
            <a:off x="5961960" y="22312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Shape 8"/>
          <p:cNvSpPr/>
          <p:nvPr/>
        </p:nvSpPr>
        <p:spPr>
          <a:xfrm>
            <a:off x="6355080" y="2011680"/>
            <a:ext cx="5284800" cy="658080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0" name="Text 9"/>
          <p:cNvSpPr/>
          <p:nvPr/>
        </p:nvSpPr>
        <p:spPr>
          <a:xfrm>
            <a:off x="6537960" y="2066400"/>
            <a:ext cx="4983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실서비스 보안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인증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·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인가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, HTTPS, 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접근 통제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개인정보 처리 방침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1" name="Shape 10"/>
          <p:cNvSpPr/>
          <p:nvPr/>
        </p:nvSpPr>
        <p:spPr>
          <a:xfrm>
            <a:off x="548640" y="2779920"/>
            <a:ext cx="5257440" cy="658080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2" name="Shape 11"/>
          <p:cNvSpPr/>
          <p:nvPr/>
        </p:nvSpPr>
        <p:spPr>
          <a:xfrm>
            <a:off x="685800" y="288036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323" name="Image 2" descr="preencoded.png"/>
          <p:cNvPicPr/>
          <p:nvPr/>
        </p:nvPicPr>
        <p:blipFill>
          <a:blip r:embed="rId3"/>
          <a:stretch/>
        </p:blipFill>
        <p:spPr>
          <a:xfrm>
            <a:off x="800280" y="29948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12"/>
          <p:cNvSpPr/>
          <p:nvPr/>
        </p:nvSpPr>
        <p:spPr>
          <a:xfrm>
            <a:off x="1280160" y="2834640"/>
            <a:ext cx="443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합성 데이터로만 검증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가상 인물</a:t>
            </a:r>
            <a:r>
              <a:rPr lang="en-US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·</a:t>
            </a: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거래로 시험했고 실사용자 테스트는 아직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325" name="Image 3" descr="preencoded.png"/>
          <p:cNvPicPr/>
          <p:nvPr/>
        </p:nvPicPr>
        <p:blipFill>
          <a:blip r:embed="rId4"/>
          <a:stretch/>
        </p:blipFill>
        <p:spPr>
          <a:xfrm>
            <a:off x="5961960" y="29991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Shape 13"/>
          <p:cNvSpPr/>
          <p:nvPr/>
        </p:nvSpPr>
        <p:spPr>
          <a:xfrm>
            <a:off x="6355080" y="2779920"/>
            <a:ext cx="5284800" cy="658080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7" name="Text 14"/>
          <p:cNvSpPr/>
          <p:nvPr/>
        </p:nvSpPr>
        <p:spPr>
          <a:xfrm>
            <a:off x="6537960" y="2834640"/>
            <a:ext cx="4983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실사용자 검증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베타 테스트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, AI 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사용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·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미사용 결과 비교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8" name="Shape 15"/>
          <p:cNvSpPr/>
          <p:nvPr/>
        </p:nvSpPr>
        <p:spPr>
          <a:xfrm>
            <a:off x="548640" y="3547800"/>
            <a:ext cx="5257440" cy="658080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9" name="Shape 16"/>
          <p:cNvSpPr/>
          <p:nvPr/>
        </p:nvSpPr>
        <p:spPr>
          <a:xfrm>
            <a:off x="685800" y="364860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330" name="Image 4" descr="preencoded.png"/>
          <p:cNvPicPr/>
          <p:nvPr/>
        </p:nvPicPr>
        <p:blipFill>
          <a:blip r:embed="rId5"/>
          <a:stretch/>
        </p:blipFill>
        <p:spPr>
          <a:xfrm>
            <a:off x="800280" y="37627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Text 17"/>
          <p:cNvSpPr/>
          <p:nvPr/>
        </p:nvSpPr>
        <p:spPr>
          <a:xfrm>
            <a:off x="1280160" y="3602880"/>
            <a:ext cx="443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품질 평가 일부만 완료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실제 모델 다중 턴 평가와 브라우저 </a:t>
            </a:r>
            <a:r>
              <a:rPr lang="en-US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E2E </a:t>
            </a: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자동화 미완료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332" name="Image 5" descr="preencoded.png"/>
          <p:cNvPicPr/>
          <p:nvPr/>
        </p:nvPicPr>
        <p:blipFill>
          <a:blip r:embed="rId6"/>
          <a:stretch/>
        </p:blipFill>
        <p:spPr>
          <a:xfrm>
            <a:off x="5961960" y="37674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Shape 18"/>
          <p:cNvSpPr/>
          <p:nvPr/>
        </p:nvSpPr>
        <p:spPr>
          <a:xfrm>
            <a:off x="6355080" y="3547800"/>
            <a:ext cx="5284800" cy="658080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34" name="Text 19"/>
          <p:cNvSpPr/>
          <p:nvPr/>
        </p:nvSpPr>
        <p:spPr>
          <a:xfrm>
            <a:off x="6537960" y="3602880"/>
            <a:ext cx="4983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품질 평가 자동화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80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개 시나리오 실모델 평가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브라우저 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E2E 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자동화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35" name="Shape 20"/>
          <p:cNvSpPr/>
          <p:nvPr/>
        </p:nvSpPr>
        <p:spPr>
          <a:xfrm>
            <a:off x="548640" y="4316040"/>
            <a:ext cx="5257440" cy="658080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36" name="Shape 21"/>
          <p:cNvSpPr/>
          <p:nvPr/>
        </p:nvSpPr>
        <p:spPr>
          <a:xfrm>
            <a:off x="685800" y="441648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337" name="Image 6" descr="preencoded.png"/>
          <p:cNvPicPr/>
          <p:nvPr/>
        </p:nvPicPr>
        <p:blipFill>
          <a:blip r:embed="rId7"/>
          <a:stretch/>
        </p:blipFill>
        <p:spPr>
          <a:xfrm>
            <a:off x="800280" y="4530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22"/>
          <p:cNvSpPr/>
          <p:nvPr/>
        </p:nvSpPr>
        <p:spPr>
          <a:xfrm>
            <a:off x="1280160" y="4370760"/>
            <a:ext cx="443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법률 전문가 검토 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공개 법령</a:t>
            </a:r>
            <a:r>
              <a:rPr lang="en-US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·</a:t>
            </a: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자료만 근거로 사용</a:t>
            </a:r>
            <a:r>
              <a:rPr lang="en-US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전문가 검토는 받지 못함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339" name="Image 7" descr="preencoded.png"/>
          <p:cNvPicPr/>
          <p:nvPr/>
        </p:nvPicPr>
        <p:blipFill>
          <a:blip r:embed="rId8"/>
          <a:stretch/>
        </p:blipFill>
        <p:spPr>
          <a:xfrm>
            <a:off x="5961960" y="45352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Shape 23"/>
          <p:cNvSpPr/>
          <p:nvPr/>
        </p:nvSpPr>
        <p:spPr>
          <a:xfrm>
            <a:off x="6355080" y="4316040"/>
            <a:ext cx="5284800" cy="658080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1" name="Text 24"/>
          <p:cNvSpPr/>
          <p:nvPr/>
        </p:nvSpPr>
        <p:spPr>
          <a:xfrm>
            <a:off x="6537960" y="4370760"/>
            <a:ext cx="4983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근거 최신화와 자문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법령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·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행동강령 변경 추적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전문가 검토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2" name="Shape 25"/>
          <p:cNvSpPr/>
          <p:nvPr/>
        </p:nvSpPr>
        <p:spPr>
          <a:xfrm>
            <a:off x="548640" y="5083920"/>
            <a:ext cx="5257440" cy="658080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3" name="Shape 26"/>
          <p:cNvSpPr/>
          <p:nvPr/>
        </p:nvSpPr>
        <p:spPr>
          <a:xfrm>
            <a:off x="685800" y="518472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344" name="Image 8" descr="preencoded.png"/>
          <p:cNvPicPr/>
          <p:nvPr/>
        </p:nvPicPr>
        <p:blipFill>
          <a:blip r:embed="rId9"/>
          <a:stretch/>
        </p:blipFill>
        <p:spPr>
          <a:xfrm>
            <a:off x="800280" y="52988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27"/>
          <p:cNvSpPr/>
          <p:nvPr/>
        </p:nvSpPr>
        <p:spPr>
          <a:xfrm>
            <a:off x="1280160" y="5139000"/>
            <a:ext cx="443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웹 시연 범위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회원가입 직업 입력</a:t>
            </a:r>
            <a:r>
              <a:rPr lang="en-US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모바일 앱</a:t>
            </a:r>
            <a:r>
              <a:rPr lang="en-US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u="none" strike="noStrike">
                <a:solidFill>
                  <a:srgbClr val="6B6460"/>
                </a:solidFill>
                <a:effectLst/>
                <a:uFillTx/>
                <a:latin typeface="Malgun Gothic"/>
              </a:rPr>
              <a:t>외부 서비스 연계 미구현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346" name="Image 9" descr="preencoded.png"/>
          <p:cNvPicPr/>
          <p:nvPr/>
        </p:nvPicPr>
        <p:blipFill>
          <a:blip r:embed="rId10"/>
          <a:stretch/>
        </p:blipFill>
        <p:spPr>
          <a:xfrm>
            <a:off x="5961960" y="53035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Shape 28"/>
          <p:cNvSpPr/>
          <p:nvPr/>
        </p:nvSpPr>
        <p:spPr>
          <a:xfrm>
            <a:off x="6355080" y="5083920"/>
            <a:ext cx="5284800" cy="658080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8" name="Text 29"/>
          <p:cNvSpPr/>
          <p:nvPr/>
        </p:nvSpPr>
        <p:spPr>
          <a:xfrm>
            <a:off x="6537960" y="5139000"/>
            <a:ext cx="4983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모바일</a:t>
            </a:r>
            <a:r>
              <a:rPr lang="en-US" sz="14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·</a:t>
            </a:r>
            <a:r>
              <a:rPr lang="ko-KR" sz="1400" b="1" u="none" strike="noStrike">
                <a:solidFill>
                  <a:schemeClr val="accent2"/>
                </a:solidFill>
                <a:effectLst/>
                <a:uFillTx/>
                <a:latin typeface="Malgun Gothic"/>
              </a:rPr>
              <a:t>서비스 연계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일정 알림 앱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청첩장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·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부고 인식</a:t>
            </a:r>
            <a:r>
              <a:rPr lang="en-US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, </a:t>
            </a:r>
            <a:r>
              <a:rPr lang="ko-KR" sz="1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기업 준법 도구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9" name="Text 30"/>
          <p:cNvSpPr/>
          <p:nvPr/>
        </p:nvSpPr>
        <p:spPr>
          <a:xfrm>
            <a:off x="548640" y="589788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마음은 지키고</a:t>
            </a:r>
            <a:r>
              <a:rPr lang="en-US" sz="2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, </a:t>
            </a:r>
            <a:r>
              <a:rPr lang="ko-KR" sz="2200" b="0" u="none" strike="noStrike">
                <a:solidFill>
                  <a:srgbClr val="33302E"/>
                </a:solidFill>
                <a:effectLst/>
                <a:uFillTx/>
                <a:latin typeface="Malgun Gothic"/>
              </a:rPr>
              <a:t>선은 넘지 않게 — </a:t>
            </a:r>
            <a:r>
              <a:rPr lang="ko-KR" sz="2200" b="1" u="none" strike="noStrike">
                <a:solidFill>
                  <a:schemeClr val="accent1"/>
                </a:solidFill>
                <a:effectLst/>
                <a:uFillTx/>
                <a:latin typeface="Malgun Gothic"/>
              </a:rPr>
              <a:t>마음결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aeumgyeol">
  <a:themeElements>
    <a:clrScheme name="Maeumgyeol">
      <a:dk1>
        <a:srgbClr val="1F2A44"/>
      </a:dk1>
      <a:lt1>
        <a:srgbClr val="FFFFFF"/>
      </a:lt1>
      <a:dk2>
        <a:srgbClr val="5B6478"/>
      </a:dk2>
      <a:lt2>
        <a:srgbClr val="F6F1EC"/>
      </a:lt2>
      <a:accent1>
        <a:srgbClr val="D9677A"/>
      </a:accent1>
      <a:accent2>
        <a:srgbClr val="3E8E7E"/>
      </a:accent2>
      <a:accent3>
        <a:srgbClr val="D9962B"/>
      </a:accent3>
      <a:accent4>
        <a:srgbClr val="C8453C"/>
      </a:accent4>
      <a:accent5>
        <a:srgbClr val="4A5A85"/>
      </a:accent5>
      <a:accent6>
        <a:srgbClr val="A8B0C2"/>
      </a:accent6>
      <a:hlink>
        <a:srgbClr val="4A5A85"/>
      </a:hlink>
      <a:folHlink>
        <a:srgbClr val="5B6478"/>
      </a:folHlink>
    </a:clrScheme>
    <a:fontScheme name="Maeumgyeol">
      <a:majorFont>
        <a:latin typeface="Malgun Gothic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LibreOffice/26.8.2.2$Windows_X86_64 LibreOffice_project/9dea406ab7695df6325b11b0e19fdca8db4b7276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2026-11-01T02:05:18Z</dcterms:created>
  <dc:creator>밑져야 경험</dc:creator>
  <dc:description/>
  <dc:language>ko-KR</dc:language>
  <cp:lastModifiedBy/>
  <dcterms:modified xsi:type="dcterms:W3CDTF">2026-11-01T11:08:00Z</dcterms:modified>
  <cp:revision>2</cp:revision>
  <dc:subject>PptxGenJS Presentation</dc:subject>
  <dc:title>마음결 — 해커톤 발표자료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